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hbGg0C/eAQPrIDXk6o6OFwA0ab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customschemas.google.com/relationships/presentationmetadata" Target="metadata"/><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g38b44ab5286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g38b44ab5286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 name="Google Shape;30;g38b44ab5286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 name="Google Shape;4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e12cea442_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3de12cea442_4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g3de12cea442_4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C18"/>
        </a:solidFill>
      </p:bgPr>
    </p:bg>
    <p:spTree>
      <p:nvGrpSpPr>
        <p:cNvPr id="15" name="Shape 15"/>
        <p:cNvGrpSpPr/>
        <p:nvPr/>
      </p:nvGrpSpPr>
      <p:grpSpPr>
        <a:xfrm>
          <a:off x="0" y="0"/>
          <a:ext cx="0" cy="0"/>
          <a:chOff x="0" y="0"/>
          <a:chExt cx="0" cy="0"/>
        </a:xfrm>
      </p:grpSpPr>
      <p:pic>
        <p:nvPicPr>
          <p:cNvPr descr="preencoded.png" id="16" name="Google Shape;16;p1"/>
          <p:cNvPicPr preferRelativeResize="0"/>
          <p:nvPr/>
        </p:nvPicPr>
        <p:blipFill rotWithShape="1">
          <a:blip r:embed="rId3">
            <a:alphaModFix amt="18000"/>
          </a:blip>
          <a:srcRect b="0" l="0" r="0" t="0"/>
          <a:stretch/>
        </p:blipFill>
        <p:spPr>
          <a:xfrm>
            <a:off x="5388730" y="685800"/>
            <a:ext cx="3200400" cy="3200400"/>
          </a:xfrm>
          <a:prstGeom prst="rect">
            <a:avLst/>
          </a:prstGeom>
          <a:noFill/>
          <a:ln>
            <a:noFill/>
          </a:ln>
        </p:spPr>
      </p:pic>
      <p:sp>
        <p:nvSpPr>
          <p:cNvPr id="17" name="Google Shape;17;p1"/>
          <p:cNvSpPr/>
          <p:nvPr/>
        </p:nvSpPr>
        <p:spPr>
          <a:xfrm>
            <a:off x="457200" y="658368"/>
            <a:ext cx="2011680" cy="219456"/>
          </a:xfrm>
          <a:prstGeom prst="roundRect">
            <a:avLst>
              <a:gd fmla="val 16667" name="adj"/>
            </a:avLst>
          </a:prstGeom>
          <a:solidFill>
            <a:srgbClr val="00C8FF">
              <a:alpha val="18039"/>
            </a:srgbClr>
          </a:solidFill>
          <a:ln cap="flat" cmpd="sng" w="15225">
            <a:solidFill>
              <a:srgbClr val="00C8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457200" y="658368"/>
            <a:ext cx="201168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C8FF"/>
              </a:buClr>
              <a:buSzPts val="850"/>
              <a:buFont typeface="Calibri"/>
              <a:buNone/>
            </a:pPr>
            <a:r>
              <a:rPr b="1" i="0" lang="en-US" sz="850" u="none" cap="none" strike="noStrike">
                <a:solidFill>
                  <a:srgbClr val="00C8FF"/>
                </a:solidFill>
                <a:latin typeface="Calibri"/>
                <a:ea typeface="Calibri"/>
                <a:cs typeface="Calibri"/>
                <a:sym typeface="Calibri"/>
              </a:rPr>
              <a:t>AI CASE COMPETITION</a:t>
            </a:r>
            <a:endParaRPr b="0" i="0" sz="850" u="none" cap="none" strike="noStrike">
              <a:solidFill>
                <a:schemeClr val="dk1"/>
              </a:solidFill>
              <a:latin typeface="Calibri"/>
              <a:ea typeface="Calibri"/>
              <a:cs typeface="Calibri"/>
              <a:sym typeface="Calibri"/>
            </a:endParaRPr>
          </a:p>
        </p:txBody>
      </p:sp>
      <p:sp>
        <p:nvSpPr>
          <p:cNvPr id="19" name="Google Shape;19;p1"/>
          <p:cNvSpPr/>
          <p:nvPr/>
        </p:nvSpPr>
        <p:spPr>
          <a:xfrm>
            <a:off x="416200" y="2013100"/>
            <a:ext cx="5486400" cy="219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5200"/>
              <a:buFont typeface="Calibri"/>
              <a:buNone/>
            </a:pPr>
            <a:r>
              <a:rPr b="1" lang="en-US" sz="5200">
                <a:solidFill>
                  <a:srgbClr val="FFFFFF"/>
                </a:solidFill>
                <a:latin typeface="Calibri"/>
                <a:ea typeface="Calibri"/>
                <a:cs typeface="Calibri"/>
                <a:sym typeface="Calibri"/>
              </a:rPr>
              <a:t>Human-Aware Decision Support for Control Rooms</a:t>
            </a:r>
            <a:endParaRPr b="0" i="0" sz="5200" u="none" cap="none" strike="noStrike">
              <a:solidFill>
                <a:schemeClr val="dk1"/>
              </a:solidFill>
              <a:latin typeface="Calibri"/>
              <a:ea typeface="Calibri"/>
              <a:cs typeface="Calibri"/>
              <a:sym typeface="Calibri"/>
            </a:endParaRPr>
          </a:p>
        </p:txBody>
      </p:sp>
      <p:sp>
        <p:nvSpPr>
          <p:cNvPr id="20" name="Google Shape;20;p1"/>
          <p:cNvSpPr/>
          <p:nvPr/>
        </p:nvSpPr>
        <p:spPr>
          <a:xfrm>
            <a:off x="457200" y="3278860"/>
            <a:ext cx="64008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C8DC"/>
              </a:buClr>
              <a:buSzPts val="1600"/>
              <a:buFont typeface="Calibri"/>
              <a:buNone/>
            </a:pPr>
            <a:r>
              <a:rPr b="0" i="0" lang="en-US" sz="1600" u="none" cap="none" strike="noStrike">
                <a:solidFill>
                  <a:srgbClr val="C0C8DC"/>
                </a:solidFill>
                <a:latin typeface="Calibri"/>
                <a:ea typeface="Calibri"/>
                <a:cs typeface="Calibri"/>
                <a:sym typeface="Calibri"/>
              </a:rPr>
              <a:t>Decision Support for Nuclear Control Rooms</a:t>
            </a:r>
            <a:endParaRPr b="0" i="0" sz="1600" u="none" cap="none" strike="noStrike">
              <a:solidFill>
                <a:schemeClr val="dk1"/>
              </a:solidFill>
              <a:latin typeface="Calibri"/>
              <a:ea typeface="Calibri"/>
              <a:cs typeface="Calibri"/>
              <a:sym typeface="Calibri"/>
            </a:endParaRPr>
          </a:p>
        </p:txBody>
      </p:sp>
      <p:sp>
        <p:nvSpPr>
          <p:cNvPr id="21" name="Google Shape;21;p1"/>
          <p:cNvSpPr/>
          <p:nvPr/>
        </p:nvSpPr>
        <p:spPr>
          <a:xfrm>
            <a:off x="416200" y="3662902"/>
            <a:ext cx="68580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5470"/>
              </a:buClr>
              <a:buSzPts val="1200"/>
              <a:buFont typeface="Calibri"/>
              <a:buNone/>
            </a:pPr>
            <a:r>
              <a:rPr b="0" i="1" lang="en-US" sz="1200" u="none" cap="none" strike="noStrike">
                <a:solidFill>
                  <a:srgbClr val="4A5470"/>
                </a:solidFill>
                <a:latin typeface="Calibri"/>
                <a:ea typeface="Calibri"/>
                <a:cs typeface="Calibri"/>
                <a:sym typeface="Calibri"/>
              </a:rPr>
              <a:t>6-Subsystem Proof-of-Concept  •  Human-in-Command Design</a:t>
            </a:r>
            <a:endParaRPr b="0" i="0" sz="1200" u="none" cap="none" strike="noStrike">
              <a:solidFill>
                <a:schemeClr val="dk1"/>
              </a:solidFill>
              <a:latin typeface="Calibri"/>
              <a:ea typeface="Calibri"/>
              <a:cs typeface="Calibri"/>
              <a:sym typeface="Calibri"/>
            </a:endParaRPr>
          </a:p>
        </p:txBody>
      </p:sp>
      <p:sp>
        <p:nvSpPr>
          <p:cNvPr id="22" name="Google Shape;22;p1"/>
          <p:cNvSpPr/>
          <p:nvPr/>
        </p:nvSpPr>
        <p:spPr>
          <a:xfrm>
            <a:off x="457200" y="4114795"/>
            <a:ext cx="4114800" cy="22800"/>
          </a:xfrm>
          <a:prstGeom prst="rect">
            <a:avLst/>
          </a:prstGeom>
          <a:solidFill>
            <a:srgbClr val="00C8FF"/>
          </a:solidFill>
          <a:ln cap="flat" cmpd="sng" w="12700">
            <a:solidFill>
              <a:srgbClr val="00C8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0" y="4988052"/>
            <a:ext cx="9144000" cy="155448"/>
          </a:xfrm>
          <a:prstGeom prst="rect">
            <a:avLst/>
          </a:prstGeom>
          <a:solidFill>
            <a:srgbClr val="0F1628"/>
          </a:solidFill>
          <a:ln cap="flat" cmpd="sng" w="12700">
            <a:solidFill>
              <a:srgbClr val="1A22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274320" y="4988052"/>
            <a:ext cx="4572000" cy="1554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470"/>
              </a:buClr>
              <a:buSzPts val="850"/>
              <a:buFont typeface="Calibri"/>
              <a:buNone/>
            </a:pPr>
            <a:r>
              <a:rPr b="0" i="0" lang="en-US" sz="850" u="none" cap="none" strike="noStrike">
                <a:solidFill>
                  <a:srgbClr val="4A5470"/>
                </a:solidFill>
                <a:latin typeface="Calibri"/>
                <a:ea typeface="Calibri"/>
                <a:cs typeface="Calibri"/>
                <a:sym typeface="Calibri"/>
              </a:rPr>
              <a:t>Human-Aware AI Safety Gate</a:t>
            </a:r>
            <a:endParaRPr b="0" i="0" sz="850" u="none" cap="none" strike="noStrike">
              <a:solidFill>
                <a:schemeClr val="dk1"/>
              </a:solidFill>
              <a:latin typeface="Calibri"/>
              <a:ea typeface="Calibri"/>
              <a:cs typeface="Calibri"/>
              <a:sym typeface="Calibri"/>
            </a:endParaRPr>
          </a:p>
        </p:txBody>
      </p:sp>
      <p:sp>
        <p:nvSpPr>
          <p:cNvPr id="25" name="Google Shape;25;p1"/>
          <p:cNvSpPr/>
          <p:nvPr/>
        </p:nvSpPr>
        <p:spPr>
          <a:xfrm>
            <a:off x="8138160" y="4988052"/>
            <a:ext cx="731520" cy="1554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470"/>
              </a:buClr>
              <a:buSzPts val="850"/>
              <a:buFont typeface="Calibri"/>
              <a:buNone/>
            </a:pPr>
            <a:r>
              <a:rPr b="0" i="0" lang="en-US" sz="850" u="none" cap="none" strike="noStrike">
                <a:solidFill>
                  <a:srgbClr val="4A5470"/>
                </a:solidFill>
                <a:latin typeface="Calibri"/>
                <a:ea typeface="Calibri"/>
                <a:cs typeface="Calibri"/>
                <a:sym typeface="Calibri"/>
              </a:rPr>
              <a:t>1 / 7</a:t>
            </a:r>
            <a:endParaRPr b="0" i="0" sz="850" u="none" cap="none" strike="noStrike">
              <a:solidFill>
                <a:schemeClr val="dk1"/>
              </a:solidFill>
              <a:latin typeface="Calibri"/>
              <a:ea typeface="Calibri"/>
              <a:cs typeface="Calibri"/>
              <a:sym typeface="Calibri"/>
            </a:endParaRPr>
          </a:p>
        </p:txBody>
      </p:sp>
      <p:pic>
        <p:nvPicPr>
          <p:cNvPr id="26" name="Google Shape;26;p1"/>
          <p:cNvPicPr preferRelativeResize="0"/>
          <p:nvPr/>
        </p:nvPicPr>
        <p:blipFill>
          <a:blip r:embed="rId4">
            <a:alphaModFix/>
          </a:blip>
          <a:stretch>
            <a:fillRect/>
          </a:stretch>
        </p:blipFill>
        <p:spPr>
          <a:xfrm>
            <a:off x="0" y="0"/>
            <a:ext cx="9143998" cy="51434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C18"/>
        </a:solidFill>
      </p:bgPr>
    </p:bg>
    <p:spTree>
      <p:nvGrpSpPr>
        <p:cNvPr id="31" name="Shape 31"/>
        <p:cNvGrpSpPr/>
        <p:nvPr/>
      </p:nvGrpSpPr>
      <p:grpSpPr>
        <a:xfrm>
          <a:off x="0" y="0"/>
          <a:ext cx="0" cy="0"/>
          <a:chOff x="0" y="0"/>
          <a:chExt cx="0" cy="0"/>
        </a:xfrm>
      </p:grpSpPr>
      <p:pic>
        <p:nvPicPr>
          <p:cNvPr descr="preencoded.png" id="32" name="Google Shape;32;g38b44ab5286_0_1"/>
          <p:cNvPicPr preferRelativeResize="0"/>
          <p:nvPr/>
        </p:nvPicPr>
        <p:blipFill rotWithShape="1">
          <a:blip r:embed="rId3">
            <a:alphaModFix amt="8000"/>
          </a:blip>
          <a:srcRect b="0" l="0" r="0" t="0"/>
          <a:stretch/>
        </p:blipFill>
        <p:spPr>
          <a:xfrm>
            <a:off x="5819248" y="-906025"/>
            <a:ext cx="4284800" cy="4284800"/>
          </a:xfrm>
          <a:prstGeom prst="rect">
            <a:avLst/>
          </a:prstGeom>
          <a:noFill/>
          <a:ln>
            <a:noFill/>
          </a:ln>
        </p:spPr>
      </p:pic>
      <p:pic>
        <p:nvPicPr>
          <p:cNvPr descr="preencoded.png" id="33" name="Google Shape;33;g38b44ab5286_0_1"/>
          <p:cNvPicPr preferRelativeResize="0"/>
          <p:nvPr/>
        </p:nvPicPr>
        <p:blipFill rotWithShape="1">
          <a:blip r:embed="rId3">
            <a:alphaModFix amt="8000"/>
          </a:blip>
          <a:srcRect b="0" l="0" r="0" t="0"/>
          <a:stretch/>
        </p:blipFill>
        <p:spPr>
          <a:xfrm>
            <a:off x="-1453077" y="1559875"/>
            <a:ext cx="4284800" cy="4284800"/>
          </a:xfrm>
          <a:prstGeom prst="rect">
            <a:avLst/>
          </a:prstGeom>
          <a:noFill/>
          <a:ln>
            <a:noFill/>
          </a:ln>
        </p:spPr>
      </p:pic>
      <p:sp>
        <p:nvSpPr>
          <p:cNvPr id="34" name="Google Shape;34;g38b44ab5286_0_1"/>
          <p:cNvSpPr/>
          <p:nvPr/>
        </p:nvSpPr>
        <p:spPr>
          <a:xfrm>
            <a:off x="0" y="4988052"/>
            <a:ext cx="9144000" cy="155400"/>
          </a:xfrm>
          <a:prstGeom prst="rect">
            <a:avLst/>
          </a:prstGeom>
          <a:solidFill>
            <a:srgbClr val="0F1628"/>
          </a:solidFill>
          <a:ln cap="flat" cmpd="sng" w="12700">
            <a:solidFill>
              <a:srgbClr val="1A22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g38b44ab5286_0_1"/>
          <p:cNvSpPr/>
          <p:nvPr/>
        </p:nvSpPr>
        <p:spPr>
          <a:xfrm>
            <a:off x="274320" y="4988052"/>
            <a:ext cx="4572000" cy="15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470"/>
              </a:buClr>
              <a:buSzPts val="850"/>
              <a:buFont typeface="Calibri"/>
              <a:buNone/>
            </a:pPr>
            <a:r>
              <a:rPr b="0" i="0" lang="en-US" sz="850" u="none" cap="none" strike="noStrike">
                <a:solidFill>
                  <a:srgbClr val="4A5470"/>
                </a:solidFill>
                <a:latin typeface="Calibri"/>
                <a:ea typeface="Calibri"/>
                <a:cs typeface="Calibri"/>
                <a:sym typeface="Calibri"/>
              </a:rPr>
              <a:t>Human-Aware AI Safety Gate</a:t>
            </a:r>
            <a:endParaRPr b="0" i="0" sz="850" u="none" cap="none" strike="noStrike">
              <a:solidFill>
                <a:schemeClr val="dk1"/>
              </a:solidFill>
              <a:latin typeface="Calibri"/>
              <a:ea typeface="Calibri"/>
              <a:cs typeface="Calibri"/>
              <a:sym typeface="Calibri"/>
            </a:endParaRPr>
          </a:p>
        </p:txBody>
      </p:sp>
      <p:sp>
        <p:nvSpPr>
          <p:cNvPr id="36" name="Google Shape;36;g38b44ab5286_0_1"/>
          <p:cNvSpPr/>
          <p:nvPr/>
        </p:nvSpPr>
        <p:spPr>
          <a:xfrm>
            <a:off x="8138160" y="4988052"/>
            <a:ext cx="731400" cy="155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470"/>
              </a:buClr>
              <a:buSzPts val="850"/>
              <a:buFont typeface="Calibri"/>
              <a:buNone/>
            </a:pPr>
            <a:r>
              <a:rPr b="0" i="0" lang="en-US" sz="850" u="none" cap="none" strike="noStrike">
                <a:solidFill>
                  <a:srgbClr val="4A5470"/>
                </a:solidFill>
                <a:latin typeface="Calibri"/>
                <a:ea typeface="Calibri"/>
                <a:cs typeface="Calibri"/>
                <a:sym typeface="Calibri"/>
              </a:rPr>
              <a:t>1 / 7</a:t>
            </a:r>
            <a:endParaRPr b="0" i="0" sz="850" u="none" cap="none" strike="noStrike">
              <a:solidFill>
                <a:schemeClr val="dk1"/>
              </a:solidFill>
              <a:latin typeface="Calibri"/>
              <a:ea typeface="Calibri"/>
              <a:cs typeface="Calibri"/>
              <a:sym typeface="Calibri"/>
            </a:endParaRPr>
          </a:p>
        </p:txBody>
      </p:sp>
      <p:sp>
        <p:nvSpPr>
          <p:cNvPr id="37" name="Google Shape;37;g38b44ab5286_0_1"/>
          <p:cNvSpPr txBox="1"/>
          <p:nvPr/>
        </p:nvSpPr>
        <p:spPr>
          <a:xfrm>
            <a:off x="3072000" y="1309175"/>
            <a:ext cx="30000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5200">
                <a:solidFill>
                  <a:schemeClr val="lt1"/>
                </a:solidFill>
                <a:latin typeface="Calibri"/>
                <a:ea typeface="Calibri"/>
                <a:cs typeface="Calibri"/>
                <a:sym typeface="Calibri"/>
              </a:rPr>
              <a:t>Topic 1</a:t>
            </a:r>
            <a:endParaRPr sz="5200">
              <a:solidFill>
                <a:schemeClr val="dk1"/>
              </a:solidFill>
              <a:latin typeface="Calibri"/>
              <a:ea typeface="Calibri"/>
              <a:cs typeface="Calibri"/>
              <a:sym typeface="Calibri"/>
            </a:endParaRPr>
          </a:p>
        </p:txBody>
      </p:sp>
      <p:sp>
        <p:nvSpPr>
          <p:cNvPr id="38" name="Google Shape;38;g38b44ab5286_0_1"/>
          <p:cNvSpPr txBox="1"/>
          <p:nvPr/>
        </p:nvSpPr>
        <p:spPr>
          <a:xfrm>
            <a:off x="1510650" y="2474900"/>
            <a:ext cx="6122700" cy="106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lt2"/>
                </a:solidFill>
              </a:rPr>
              <a:t>Design new techniques, methods, and automated systems to improve human performance with control room design for nuclear power plants using digital twins, including enhanced human monitoring and decision support functions. Demonstrate a developed solution with test scenarios.</a:t>
            </a:r>
            <a:endParaRPr>
              <a:solidFill>
                <a:schemeClr val="lt2"/>
              </a:solidFill>
            </a:endParaRPr>
          </a:p>
        </p:txBody>
      </p:sp>
      <p:pic>
        <p:nvPicPr>
          <p:cNvPr id="39" name="Google Shape;39;g38b44ab5286_0_1"/>
          <p:cNvPicPr preferRelativeResize="0"/>
          <p:nvPr/>
        </p:nvPicPr>
        <p:blipFill>
          <a:blip r:embed="rId4">
            <a:alphaModFix/>
          </a:blip>
          <a:stretch>
            <a:fillRect/>
          </a:stretch>
        </p:blipFill>
        <p:spPr>
          <a:xfrm>
            <a:off x="14146" y="0"/>
            <a:ext cx="9115709" cy="51435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C18"/>
        </a:solidFill>
      </p:bgPr>
    </p:bg>
    <p:spTree>
      <p:nvGrpSpPr>
        <p:cNvPr id="44" name="Shape 44"/>
        <p:cNvGrpSpPr/>
        <p:nvPr/>
      </p:nvGrpSpPr>
      <p:grpSpPr>
        <a:xfrm>
          <a:off x="0" y="0"/>
          <a:ext cx="0" cy="0"/>
          <a:chOff x="0" y="0"/>
          <a:chExt cx="0" cy="0"/>
        </a:xfrm>
      </p:grpSpPr>
      <p:sp>
        <p:nvSpPr>
          <p:cNvPr id="45" name="Google Shape;45;p2"/>
          <p:cNvSpPr/>
          <p:nvPr/>
        </p:nvSpPr>
        <p:spPr>
          <a:xfrm>
            <a:off x="365760" y="109728"/>
            <a:ext cx="1737360" cy="219456"/>
          </a:xfrm>
          <a:prstGeom prst="roundRect">
            <a:avLst>
              <a:gd fmla="val 16667" name="adj"/>
            </a:avLst>
          </a:prstGeom>
          <a:solidFill>
            <a:srgbClr val="FF4D6D">
              <a:alpha val="18039"/>
            </a:srgbClr>
          </a:solidFill>
          <a:ln cap="flat" cmpd="sng" w="15225">
            <a:solidFill>
              <a:srgbClr val="FF4D6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365760" y="109728"/>
            <a:ext cx="17373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4D6D"/>
              </a:buClr>
              <a:buSzPts val="850"/>
              <a:buFont typeface="Calibri"/>
              <a:buNone/>
            </a:pPr>
            <a:r>
              <a:rPr b="1" i="0" lang="en-US" sz="850" u="none" cap="none" strike="noStrike">
                <a:solidFill>
                  <a:srgbClr val="FF4D6D"/>
                </a:solidFill>
                <a:latin typeface="Calibri"/>
                <a:ea typeface="Calibri"/>
                <a:cs typeface="Calibri"/>
                <a:sym typeface="Calibri"/>
              </a:rPr>
              <a:t>THE PROBLEM</a:t>
            </a:r>
            <a:endParaRPr b="0" i="0" sz="850" u="none" cap="none" strike="noStrike">
              <a:solidFill>
                <a:schemeClr val="dk1"/>
              </a:solidFill>
              <a:latin typeface="Calibri"/>
              <a:ea typeface="Calibri"/>
              <a:cs typeface="Calibri"/>
              <a:sym typeface="Calibri"/>
            </a:endParaRPr>
          </a:p>
        </p:txBody>
      </p:sp>
      <p:sp>
        <p:nvSpPr>
          <p:cNvPr id="47" name="Google Shape;47;p2"/>
          <p:cNvSpPr/>
          <p:nvPr/>
        </p:nvSpPr>
        <p:spPr>
          <a:xfrm>
            <a:off x="365760" y="665261"/>
            <a:ext cx="8412600" cy="594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Nuclear Control Rooms Are Under Pressure</a:t>
            </a:r>
            <a:endParaRPr b="0" i="0" sz="3000" u="none" cap="none" strike="noStrike">
              <a:solidFill>
                <a:schemeClr val="dk1"/>
              </a:solidFill>
              <a:latin typeface="Calibri"/>
              <a:ea typeface="Calibri"/>
              <a:cs typeface="Calibri"/>
              <a:sym typeface="Calibri"/>
            </a:endParaRPr>
          </a:p>
        </p:txBody>
      </p:sp>
      <p:sp>
        <p:nvSpPr>
          <p:cNvPr id="48" name="Google Shape;48;p2"/>
          <p:cNvSpPr/>
          <p:nvPr/>
        </p:nvSpPr>
        <p:spPr>
          <a:xfrm>
            <a:off x="320050" y="1518975"/>
            <a:ext cx="2633400" cy="2943300"/>
          </a:xfrm>
          <a:prstGeom prst="rect">
            <a:avLst/>
          </a:prstGeom>
          <a:solidFill>
            <a:srgbClr val="0F1628"/>
          </a:solidFill>
          <a:ln cap="flat" cmpd="sng" w="12700">
            <a:solidFill>
              <a:srgbClr val="FF4D6D"/>
            </a:solidFill>
            <a:prstDash val="solid"/>
            <a:round/>
            <a:headEnd len="sm" w="sm" type="none"/>
            <a:tailEnd len="sm" w="sm" type="none"/>
          </a:ln>
          <a:effectLst>
            <a:outerShdw blurRad="127000" rotWithShape="0" algn="bl" dir="8100000" dist="381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319965" y="1468682"/>
            <a:ext cx="2633400" cy="50400"/>
          </a:xfrm>
          <a:prstGeom prst="rect">
            <a:avLst/>
          </a:prstGeom>
          <a:solidFill>
            <a:srgbClr val="FF4D6D"/>
          </a:solidFill>
          <a:ln cap="flat" cmpd="sng" w="12700">
            <a:solidFill>
              <a:srgbClr val="FF4D6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0" name="Google Shape;50;p2"/>
          <p:cNvPicPr preferRelativeResize="0"/>
          <p:nvPr/>
        </p:nvPicPr>
        <p:blipFill rotWithShape="1">
          <a:blip r:embed="rId3">
            <a:alphaModFix/>
          </a:blip>
          <a:srcRect b="0" l="0" r="0" t="0"/>
          <a:stretch/>
        </p:blipFill>
        <p:spPr>
          <a:xfrm>
            <a:off x="484620" y="1851723"/>
            <a:ext cx="457200" cy="457200"/>
          </a:xfrm>
          <a:prstGeom prst="rect">
            <a:avLst/>
          </a:prstGeom>
          <a:noFill/>
          <a:ln>
            <a:noFill/>
          </a:ln>
        </p:spPr>
      </p:pic>
      <p:sp>
        <p:nvSpPr>
          <p:cNvPr id="51" name="Google Shape;51;p2"/>
          <p:cNvSpPr/>
          <p:nvPr/>
        </p:nvSpPr>
        <p:spPr>
          <a:xfrm>
            <a:off x="1051573" y="1874536"/>
            <a:ext cx="17373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Alarm Flooding</a:t>
            </a:r>
            <a:endParaRPr b="0" i="0" sz="1400" u="none" cap="none" strike="noStrike">
              <a:solidFill>
                <a:schemeClr val="dk1"/>
              </a:solidFill>
              <a:latin typeface="Calibri"/>
              <a:ea typeface="Calibri"/>
              <a:cs typeface="Calibri"/>
              <a:sym typeface="Calibri"/>
            </a:endParaRPr>
          </a:p>
        </p:txBody>
      </p:sp>
      <p:sp>
        <p:nvSpPr>
          <p:cNvPr id="52" name="Google Shape;52;p2"/>
          <p:cNvSpPr/>
          <p:nvPr/>
        </p:nvSpPr>
        <p:spPr>
          <a:xfrm>
            <a:off x="535882" y="1892833"/>
            <a:ext cx="2304300" cy="24231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C0C8DC"/>
              </a:buClr>
              <a:buSzPts val="1200"/>
              <a:buFont typeface="Calibri"/>
              <a:buChar char="•"/>
            </a:pPr>
            <a:r>
              <a:rPr lang="en-US" sz="1200">
                <a:solidFill>
                  <a:srgbClr val="C0C8DC"/>
                </a:solidFill>
                <a:latin typeface="Calibri"/>
                <a:ea typeface="Calibri"/>
                <a:cs typeface="Calibri"/>
                <a:sym typeface="Calibri"/>
              </a:rPr>
              <a:t>S</a:t>
            </a:r>
            <a:r>
              <a:rPr lang="en-US" sz="1200">
                <a:solidFill>
                  <a:srgbClr val="C0C8DC"/>
                </a:solidFill>
                <a:latin typeface="Calibri"/>
                <a:ea typeface="Calibri"/>
                <a:cs typeface="Calibri"/>
                <a:sym typeface="Calibri"/>
              </a:rPr>
              <a:t>imultaneous</a:t>
            </a:r>
            <a:r>
              <a:rPr lang="en-US" sz="1200">
                <a:solidFill>
                  <a:srgbClr val="C0C8DC"/>
                </a:solidFill>
                <a:latin typeface="Calibri"/>
                <a:ea typeface="Calibri"/>
                <a:cs typeface="Calibri"/>
                <a:sym typeface="Calibri"/>
              </a:rPr>
              <a:t> </a:t>
            </a:r>
            <a:r>
              <a:rPr b="0" i="0" lang="en-US" sz="1200" u="none" cap="none" strike="noStrike">
                <a:solidFill>
                  <a:srgbClr val="C0C8DC"/>
                </a:solidFill>
                <a:latin typeface="Calibri"/>
                <a:ea typeface="Calibri"/>
                <a:cs typeface="Calibri"/>
                <a:sym typeface="Calibri"/>
              </a:rPr>
              <a:t>alerts all at once</a:t>
            </a:r>
            <a:endParaRPr b="0" i="0" sz="12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C0C8DC"/>
              </a:buClr>
              <a:buSzPts val="1200"/>
              <a:buFont typeface="Calibri"/>
              <a:buChar char="•"/>
            </a:pPr>
            <a:r>
              <a:rPr b="0" i="0" lang="en-US" sz="1200" u="none" cap="none" strike="noStrike">
                <a:solidFill>
                  <a:srgbClr val="C0C8DC"/>
                </a:solidFill>
                <a:latin typeface="Calibri"/>
                <a:ea typeface="Calibri"/>
                <a:cs typeface="Calibri"/>
                <a:sym typeface="Calibri"/>
              </a:rPr>
              <a:t>Critical signals lost in noise</a:t>
            </a:r>
            <a:endParaRPr b="0" i="0" sz="12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C0C8DC"/>
              </a:buClr>
              <a:buSzPts val="1200"/>
              <a:buFont typeface="Calibri"/>
              <a:buChar char="•"/>
            </a:pPr>
            <a:r>
              <a:rPr b="0" i="0" lang="en-US" sz="1200" u="none" cap="none" strike="noStrike">
                <a:solidFill>
                  <a:srgbClr val="C0C8DC"/>
                </a:solidFill>
                <a:latin typeface="Calibri"/>
                <a:ea typeface="Calibri"/>
                <a:cs typeface="Calibri"/>
                <a:sym typeface="Calibri"/>
              </a:rPr>
              <a:t>Operators can't prioritize</a:t>
            </a:r>
            <a:endParaRPr b="0" i="0" sz="1200" u="none" cap="none" strike="noStrike">
              <a:solidFill>
                <a:schemeClr val="dk1"/>
              </a:solidFill>
              <a:latin typeface="Calibri"/>
              <a:ea typeface="Calibri"/>
              <a:cs typeface="Calibri"/>
              <a:sym typeface="Calibri"/>
            </a:endParaRPr>
          </a:p>
        </p:txBody>
      </p:sp>
      <p:sp>
        <p:nvSpPr>
          <p:cNvPr id="53" name="Google Shape;53;p2"/>
          <p:cNvSpPr/>
          <p:nvPr/>
        </p:nvSpPr>
        <p:spPr>
          <a:xfrm>
            <a:off x="3154675" y="1518987"/>
            <a:ext cx="2633400" cy="2943300"/>
          </a:xfrm>
          <a:prstGeom prst="rect">
            <a:avLst/>
          </a:prstGeom>
          <a:solidFill>
            <a:srgbClr val="0F1628"/>
          </a:solidFill>
          <a:ln cap="flat" cmpd="sng" w="12700">
            <a:solidFill>
              <a:srgbClr val="FFB347"/>
            </a:solidFill>
            <a:prstDash val="solid"/>
            <a:round/>
            <a:headEnd len="sm" w="sm" type="none"/>
            <a:tailEnd len="sm" w="sm" type="none"/>
          </a:ln>
          <a:effectLst>
            <a:outerShdw blurRad="127000" rotWithShape="0" algn="bl" dir="8100000" dist="381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3154680" y="1485907"/>
            <a:ext cx="2633400" cy="50400"/>
          </a:xfrm>
          <a:prstGeom prst="rect">
            <a:avLst/>
          </a:prstGeom>
          <a:solidFill>
            <a:srgbClr val="FFB347"/>
          </a:solidFill>
          <a:ln cap="flat" cmpd="sng" w="12700">
            <a:solidFill>
              <a:srgbClr val="FFB3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5" name="Google Shape;55;p2"/>
          <p:cNvPicPr preferRelativeResize="0"/>
          <p:nvPr/>
        </p:nvPicPr>
        <p:blipFill rotWithShape="1">
          <a:blip r:embed="rId4">
            <a:alphaModFix/>
          </a:blip>
          <a:srcRect b="0" l="0" r="0" t="0"/>
          <a:stretch/>
        </p:blipFill>
        <p:spPr>
          <a:xfrm>
            <a:off x="3368310" y="1851723"/>
            <a:ext cx="457200" cy="457200"/>
          </a:xfrm>
          <a:prstGeom prst="rect">
            <a:avLst/>
          </a:prstGeom>
          <a:noFill/>
          <a:ln>
            <a:noFill/>
          </a:ln>
        </p:spPr>
      </p:pic>
      <p:sp>
        <p:nvSpPr>
          <p:cNvPr id="56" name="Google Shape;56;p2"/>
          <p:cNvSpPr/>
          <p:nvPr/>
        </p:nvSpPr>
        <p:spPr>
          <a:xfrm>
            <a:off x="3886188" y="1874586"/>
            <a:ext cx="17373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Cognitive Overload</a:t>
            </a:r>
            <a:endParaRPr b="0" i="0" sz="1400" u="none" cap="none" strike="noStrike">
              <a:solidFill>
                <a:schemeClr val="dk1"/>
              </a:solidFill>
              <a:latin typeface="Calibri"/>
              <a:ea typeface="Calibri"/>
              <a:cs typeface="Calibri"/>
              <a:sym typeface="Calibri"/>
            </a:endParaRPr>
          </a:p>
        </p:txBody>
      </p:sp>
      <p:sp>
        <p:nvSpPr>
          <p:cNvPr id="57" name="Google Shape;57;p2"/>
          <p:cNvSpPr/>
          <p:nvPr/>
        </p:nvSpPr>
        <p:spPr>
          <a:xfrm>
            <a:off x="3319272" y="1874520"/>
            <a:ext cx="2304288" cy="242316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C0C8DC"/>
              </a:buClr>
              <a:buSzPts val="1200"/>
              <a:buFont typeface="Calibri"/>
              <a:buChar char="•"/>
            </a:pPr>
            <a:r>
              <a:rPr b="0" i="0" lang="en-US" sz="1200" u="none" cap="none" strike="noStrike">
                <a:solidFill>
                  <a:srgbClr val="C0C8DC"/>
                </a:solidFill>
                <a:latin typeface="Calibri"/>
                <a:ea typeface="Calibri"/>
                <a:cs typeface="Calibri"/>
                <a:sym typeface="Calibri"/>
              </a:rPr>
              <a:t>Stress degrades decisions</a:t>
            </a:r>
            <a:endParaRPr b="0" i="0" sz="12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C0C8DC"/>
              </a:buClr>
              <a:buSzPts val="1200"/>
              <a:buFont typeface="Calibri"/>
              <a:buChar char="•"/>
            </a:pPr>
            <a:r>
              <a:rPr b="0" i="0" lang="en-US" sz="1200" u="none" cap="none" strike="noStrike">
                <a:solidFill>
                  <a:srgbClr val="C0C8DC"/>
                </a:solidFill>
                <a:latin typeface="Calibri"/>
                <a:ea typeface="Calibri"/>
                <a:cs typeface="Calibri"/>
                <a:sym typeface="Calibri"/>
              </a:rPr>
              <a:t>Time pressure compounds errors</a:t>
            </a:r>
            <a:endParaRPr b="0" i="0" sz="12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C0C8DC"/>
              </a:buClr>
              <a:buSzPts val="1200"/>
              <a:buFont typeface="Calibri"/>
              <a:buChar char="•"/>
            </a:pPr>
            <a:r>
              <a:rPr b="0" i="0" lang="en-US" sz="1200" u="none" cap="none" strike="noStrike">
                <a:solidFill>
                  <a:srgbClr val="C0C8DC"/>
                </a:solidFill>
                <a:latin typeface="Calibri"/>
                <a:ea typeface="Calibri"/>
                <a:cs typeface="Calibri"/>
                <a:sym typeface="Calibri"/>
              </a:rPr>
              <a:t>Even trained operators are affected</a:t>
            </a:r>
            <a:endParaRPr b="0" i="0" sz="1200" u="none" cap="none" strike="noStrike">
              <a:solidFill>
                <a:schemeClr val="dk1"/>
              </a:solidFill>
              <a:latin typeface="Calibri"/>
              <a:ea typeface="Calibri"/>
              <a:cs typeface="Calibri"/>
              <a:sym typeface="Calibri"/>
            </a:endParaRPr>
          </a:p>
        </p:txBody>
      </p:sp>
      <p:sp>
        <p:nvSpPr>
          <p:cNvPr id="58" name="Google Shape;58;p2"/>
          <p:cNvSpPr/>
          <p:nvPr/>
        </p:nvSpPr>
        <p:spPr>
          <a:xfrm>
            <a:off x="5989325" y="1518975"/>
            <a:ext cx="2633400" cy="2943300"/>
          </a:xfrm>
          <a:prstGeom prst="rect">
            <a:avLst/>
          </a:prstGeom>
          <a:solidFill>
            <a:srgbClr val="0F1628"/>
          </a:solidFill>
          <a:ln cap="flat" cmpd="sng" w="12700">
            <a:solidFill>
              <a:srgbClr val="7B61FF"/>
            </a:solidFill>
            <a:prstDash val="solid"/>
            <a:round/>
            <a:headEnd len="sm" w="sm" type="none"/>
            <a:tailEnd len="sm" w="sm" type="none"/>
          </a:ln>
          <a:effectLst>
            <a:outerShdw blurRad="127000" rotWithShape="0" algn="bl" dir="8100000" dist="381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5989295" y="1485857"/>
            <a:ext cx="2633400" cy="50400"/>
          </a:xfrm>
          <a:prstGeom prst="rect">
            <a:avLst/>
          </a:prstGeom>
          <a:solidFill>
            <a:srgbClr val="7B61FF"/>
          </a:solidFill>
          <a:ln cap="flat" cmpd="sng" w="12700">
            <a:solidFill>
              <a:srgbClr val="7B61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0" name="Google Shape;60;p2"/>
          <p:cNvPicPr preferRelativeResize="0"/>
          <p:nvPr/>
        </p:nvPicPr>
        <p:blipFill rotWithShape="1">
          <a:blip r:embed="rId5">
            <a:alphaModFix/>
          </a:blip>
          <a:srcRect b="0" l="0" r="0" t="0"/>
          <a:stretch/>
        </p:blipFill>
        <p:spPr>
          <a:xfrm>
            <a:off x="6153950" y="1828923"/>
            <a:ext cx="457200" cy="457200"/>
          </a:xfrm>
          <a:prstGeom prst="rect">
            <a:avLst/>
          </a:prstGeom>
          <a:noFill/>
          <a:ln>
            <a:noFill/>
          </a:ln>
        </p:spPr>
      </p:pic>
      <p:sp>
        <p:nvSpPr>
          <p:cNvPr id="61" name="Google Shape;61;p2"/>
          <p:cNvSpPr/>
          <p:nvPr/>
        </p:nvSpPr>
        <p:spPr>
          <a:xfrm>
            <a:off x="6720828" y="1851736"/>
            <a:ext cx="17373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Context-Blind AI</a:t>
            </a:r>
            <a:endParaRPr b="0" i="0" sz="1400" u="none" cap="none" strike="noStrike">
              <a:solidFill>
                <a:schemeClr val="dk1"/>
              </a:solidFill>
              <a:latin typeface="Calibri"/>
              <a:ea typeface="Calibri"/>
              <a:cs typeface="Calibri"/>
              <a:sym typeface="Calibri"/>
            </a:endParaRPr>
          </a:p>
        </p:txBody>
      </p:sp>
      <p:sp>
        <p:nvSpPr>
          <p:cNvPr id="62" name="Google Shape;62;p2"/>
          <p:cNvSpPr/>
          <p:nvPr/>
        </p:nvSpPr>
        <p:spPr>
          <a:xfrm>
            <a:off x="6153912" y="1874520"/>
            <a:ext cx="2304300" cy="24231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C0C8DC"/>
              </a:buClr>
              <a:buSzPts val="1200"/>
              <a:buFont typeface="Calibri"/>
              <a:buChar char="•"/>
            </a:pPr>
            <a:r>
              <a:rPr b="0" i="0" lang="en-US" sz="1200" u="none" cap="none" strike="noStrike">
                <a:solidFill>
                  <a:srgbClr val="C0C8DC"/>
                </a:solidFill>
                <a:latin typeface="Calibri"/>
                <a:ea typeface="Calibri"/>
                <a:cs typeface="Calibri"/>
                <a:sym typeface="Calibri"/>
              </a:rPr>
              <a:t>Recommends without context</a:t>
            </a:r>
            <a:endParaRPr b="0" i="0" sz="12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C0C8DC"/>
              </a:buClr>
              <a:buSzPts val="1200"/>
              <a:buFont typeface="Calibri"/>
              <a:buChar char="•"/>
            </a:pPr>
            <a:r>
              <a:rPr b="0" i="0" lang="en-US" sz="1200" u="none" cap="none" strike="noStrike">
                <a:solidFill>
                  <a:srgbClr val="C0C8DC"/>
                </a:solidFill>
                <a:latin typeface="Calibri"/>
                <a:ea typeface="Calibri"/>
                <a:cs typeface="Calibri"/>
                <a:sym typeface="Calibri"/>
              </a:rPr>
              <a:t>Ignores operator readiness</a:t>
            </a:r>
            <a:endParaRPr b="0" i="0" sz="120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C0C8DC"/>
              </a:buClr>
              <a:buSzPts val="1200"/>
              <a:buFont typeface="Calibri"/>
              <a:buChar char="•"/>
            </a:pPr>
            <a:r>
              <a:rPr b="0" i="0" lang="en-US" sz="1200" u="none" cap="none" strike="noStrike">
                <a:solidFill>
                  <a:srgbClr val="C0C8DC"/>
                </a:solidFill>
                <a:latin typeface="Calibri"/>
                <a:ea typeface="Calibri"/>
                <a:cs typeface="Calibri"/>
                <a:sym typeface="Calibri"/>
              </a:rPr>
              <a:t>No awareness of compound risk</a:t>
            </a:r>
            <a:endParaRPr b="0" i="0" sz="1200" u="none" cap="none" strike="noStrike">
              <a:solidFill>
                <a:schemeClr val="dk1"/>
              </a:solidFill>
              <a:latin typeface="Calibri"/>
              <a:ea typeface="Calibri"/>
              <a:cs typeface="Calibri"/>
              <a:sym typeface="Calibri"/>
            </a:endParaRPr>
          </a:p>
        </p:txBody>
      </p:sp>
      <p:sp>
        <p:nvSpPr>
          <p:cNvPr id="63" name="Google Shape;63;p2"/>
          <p:cNvSpPr/>
          <p:nvPr/>
        </p:nvSpPr>
        <p:spPr>
          <a:xfrm>
            <a:off x="320040" y="4636008"/>
            <a:ext cx="8503920" cy="25603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C8FF"/>
              </a:buClr>
              <a:buSzPts val="1250"/>
              <a:buFont typeface="Calibri"/>
              <a:buNone/>
            </a:pPr>
            <a:r>
              <a:t/>
            </a:r>
            <a:endParaRPr b="0" i="0" sz="1250" u="none" cap="none" strike="noStrike">
              <a:solidFill>
                <a:schemeClr val="dk1"/>
              </a:solidFill>
              <a:latin typeface="Calibri"/>
              <a:ea typeface="Calibri"/>
              <a:cs typeface="Calibri"/>
              <a:sym typeface="Calibri"/>
            </a:endParaRPr>
          </a:p>
        </p:txBody>
      </p:sp>
      <p:sp>
        <p:nvSpPr>
          <p:cNvPr id="64" name="Google Shape;64;p2"/>
          <p:cNvSpPr/>
          <p:nvPr/>
        </p:nvSpPr>
        <p:spPr>
          <a:xfrm>
            <a:off x="0" y="4988052"/>
            <a:ext cx="9144000" cy="155448"/>
          </a:xfrm>
          <a:prstGeom prst="rect">
            <a:avLst/>
          </a:prstGeom>
          <a:solidFill>
            <a:srgbClr val="0F1628"/>
          </a:solidFill>
          <a:ln cap="flat" cmpd="sng" w="12700">
            <a:solidFill>
              <a:srgbClr val="1A22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274320" y="4988052"/>
            <a:ext cx="4572000" cy="1554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470"/>
              </a:buClr>
              <a:buSzPts val="850"/>
              <a:buFont typeface="Calibri"/>
              <a:buNone/>
            </a:pPr>
            <a:r>
              <a:rPr b="0" i="0" lang="en-US" sz="850" u="none" cap="none" strike="noStrike">
                <a:solidFill>
                  <a:srgbClr val="4A5470"/>
                </a:solidFill>
                <a:latin typeface="Calibri"/>
                <a:ea typeface="Calibri"/>
                <a:cs typeface="Calibri"/>
                <a:sym typeface="Calibri"/>
              </a:rPr>
              <a:t>Human-Aware AI Safety Gate</a:t>
            </a:r>
            <a:endParaRPr b="0" i="0" sz="850" u="none" cap="none" strike="noStrike">
              <a:solidFill>
                <a:schemeClr val="dk1"/>
              </a:solidFill>
              <a:latin typeface="Calibri"/>
              <a:ea typeface="Calibri"/>
              <a:cs typeface="Calibri"/>
              <a:sym typeface="Calibri"/>
            </a:endParaRPr>
          </a:p>
        </p:txBody>
      </p:sp>
      <p:sp>
        <p:nvSpPr>
          <p:cNvPr id="66" name="Google Shape;66;p2"/>
          <p:cNvSpPr/>
          <p:nvPr/>
        </p:nvSpPr>
        <p:spPr>
          <a:xfrm>
            <a:off x="8138160" y="4988052"/>
            <a:ext cx="731520" cy="1554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470"/>
              </a:buClr>
              <a:buSzPts val="850"/>
              <a:buFont typeface="Calibri"/>
              <a:buNone/>
            </a:pPr>
            <a:r>
              <a:rPr b="0" i="0" lang="en-US" sz="850" u="none" cap="none" strike="noStrike">
                <a:solidFill>
                  <a:srgbClr val="4A5470"/>
                </a:solidFill>
                <a:latin typeface="Calibri"/>
                <a:ea typeface="Calibri"/>
                <a:cs typeface="Calibri"/>
                <a:sym typeface="Calibri"/>
              </a:rPr>
              <a:t>2 / 7</a:t>
            </a:r>
            <a:endParaRPr b="0" i="0" sz="850" u="none" cap="none" strike="noStrike">
              <a:solidFill>
                <a:schemeClr val="dk1"/>
              </a:solidFill>
              <a:latin typeface="Calibri"/>
              <a:ea typeface="Calibri"/>
              <a:cs typeface="Calibri"/>
              <a:sym typeface="Calibri"/>
            </a:endParaRPr>
          </a:p>
        </p:txBody>
      </p:sp>
      <p:pic>
        <p:nvPicPr>
          <p:cNvPr id="67" name="Google Shape;67;p2" title="Human-Aware Decision Support for Control Rooms.png"/>
          <p:cNvPicPr preferRelativeResize="0"/>
          <p:nvPr/>
        </p:nvPicPr>
        <p:blipFill>
          <a:blip r:embed="rId6">
            <a:alphaModFix/>
          </a:blip>
          <a:stretch>
            <a:fillRect/>
          </a:stretch>
        </p:blipFill>
        <p:spPr>
          <a:xfrm>
            <a:off x="50" y="0"/>
            <a:ext cx="9144000"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C18"/>
        </a:solidFill>
      </p:bgPr>
    </p:bg>
    <p:spTree>
      <p:nvGrpSpPr>
        <p:cNvPr id="72" name="Shape 72"/>
        <p:cNvGrpSpPr/>
        <p:nvPr/>
      </p:nvGrpSpPr>
      <p:grpSpPr>
        <a:xfrm>
          <a:off x="0" y="0"/>
          <a:ext cx="0" cy="0"/>
          <a:chOff x="0" y="0"/>
          <a:chExt cx="0" cy="0"/>
        </a:xfrm>
      </p:grpSpPr>
      <p:sp>
        <p:nvSpPr>
          <p:cNvPr id="73" name="Google Shape;73;p3"/>
          <p:cNvSpPr/>
          <p:nvPr/>
        </p:nvSpPr>
        <p:spPr>
          <a:xfrm>
            <a:off x="365760" y="109728"/>
            <a:ext cx="1737360" cy="219456"/>
          </a:xfrm>
          <a:prstGeom prst="roundRect">
            <a:avLst>
              <a:gd fmla="val 16667" name="adj"/>
            </a:avLst>
          </a:prstGeom>
          <a:solidFill>
            <a:srgbClr val="00E5A0">
              <a:alpha val="18039"/>
            </a:srgbClr>
          </a:solidFill>
          <a:ln cap="flat" cmpd="sng" w="15225">
            <a:solidFill>
              <a:srgbClr val="00E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365760" y="109728"/>
            <a:ext cx="173736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E5A0"/>
              </a:buClr>
              <a:buSzPts val="850"/>
              <a:buFont typeface="Calibri"/>
              <a:buNone/>
            </a:pPr>
            <a:r>
              <a:rPr b="1" i="0" lang="en-US" sz="850" u="none" cap="none" strike="noStrike">
                <a:solidFill>
                  <a:srgbClr val="00E5A0"/>
                </a:solidFill>
                <a:latin typeface="Calibri"/>
                <a:ea typeface="Calibri"/>
                <a:cs typeface="Calibri"/>
                <a:sym typeface="Calibri"/>
              </a:rPr>
              <a:t>OUR SOLUTION</a:t>
            </a:r>
            <a:endParaRPr b="0" i="0" sz="850" u="none" cap="none" strike="noStrike">
              <a:solidFill>
                <a:schemeClr val="dk1"/>
              </a:solidFill>
              <a:latin typeface="Calibri"/>
              <a:ea typeface="Calibri"/>
              <a:cs typeface="Calibri"/>
              <a:sym typeface="Calibri"/>
            </a:endParaRPr>
          </a:p>
        </p:txBody>
      </p:sp>
      <p:sp>
        <p:nvSpPr>
          <p:cNvPr id="75" name="Google Shape;75;p3"/>
          <p:cNvSpPr/>
          <p:nvPr/>
        </p:nvSpPr>
        <p:spPr>
          <a:xfrm>
            <a:off x="365760" y="402336"/>
            <a:ext cx="8412480" cy="56692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A 6-Subsystem Human-Aware Architecture</a:t>
            </a:r>
            <a:endParaRPr b="0" i="0" sz="3000" u="none" cap="none" strike="noStrike">
              <a:solidFill>
                <a:schemeClr val="dk1"/>
              </a:solidFill>
              <a:latin typeface="Calibri"/>
              <a:ea typeface="Calibri"/>
              <a:cs typeface="Calibri"/>
              <a:sym typeface="Calibri"/>
            </a:endParaRPr>
          </a:p>
        </p:txBody>
      </p:sp>
      <p:sp>
        <p:nvSpPr>
          <p:cNvPr id="76" name="Google Shape;76;p3"/>
          <p:cNvSpPr/>
          <p:nvPr/>
        </p:nvSpPr>
        <p:spPr>
          <a:xfrm>
            <a:off x="365760" y="1005840"/>
            <a:ext cx="841248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C8DC"/>
              </a:buClr>
              <a:buSzPts val="1300"/>
              <a:buFont typeface="Calibri"/>
              <a:buNone/>
            </a:pPr>
            <a:r>
              <a:t/>
            </a:r>
            <a:endParaRPr b="0" i="0" sz="1300" u="none" cap="none" strike="noStrike">
              <a:solidFill>
                <a:schemeClr val="dk1"/>
              </a:solidFill>
              <a:latin typeface="Calibri"/>
              <a:ea typeface="Calibri"/>
              <a:cs typeface="Calibri"/>
              <a:sym typeface="Calibri"/>
            </a:endParaRPr>
          </a:p>
        </p:txBody>
      </p:sp>
      <p:sp>
        <p:nvSpPr>
          <p:cNvPr id="77" name="Google Shape;77;p3"/>
          <p:cNvSpPr/>
          <p:nvPr/>
        </p:nvSpPr>
        <p:spPr>
          <a:xfrm>
            <a:off x="347472" y="1508760"/>
            <a:ext cx="2633472" cy="1389888"/>
          </a:xfrm>
          <a:prstGeom prst="rect">
            <a:avLst/>
          </a:prstGeom>
          <a:solidFill>
            <a:srgbClr val="0F1628"/>
          </a:solidFill>
          <a:ln cap="flat" cmpd="sng" w="12700">
            <a:solidFill>
              <a:srgbClr val="00C8FF"/>
            </a:solidFill>
            <a:prstDash val="solid"/>
            <a:round/>
            <a:headEnd len="sm" w="sm" type="none"/>
            <a:tailEnd len="sm" w="sm" type="none"/>
          </a:ln>
          <a:effectLst>
            <a:outerShdw blurRad="127000" rotWithShape="0" algn="bl" dir="8100000" dist="381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347472" y="1508760"/>
            <a:ext cx="2633472" cy="50292"/>
          </a:xfrm>
          <a:prstGeom prst="rect">
            <a:avLst/>
          </a:prstGeom>
          <a:solidFill>
            <a:srgbClr val="00C8FF"/>
          </a:solidFill>
          <a:ln cap="flat" cmpd="sng" w="12700">
            <a:solidFill>
              <a:srgbClr val="00C8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457200" y="1618488"/>
            <a:ext cx="502920" cy="219456"/>
          </a:xfrm>
          <a:prstGeom prst="roundRect">
            <a:avLst>
              <a:gd fmla="val 16667" name="adj"/>
            </a:avLst>
          </a:prstGeom>
          <a:solidFill>
            <a:srgbClr val="00C8FF">
              <a:alpha val="21960"/>
            </a:srgbClr>
          </a:solidFill>
          <a:ln cap="flat" cmpd="sng" w="15225">
            <a:solidFill>
              <a:srgbClr val="00C8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457200" y="1618488"/>
            <a:ext cx="5029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C8FF"/>
              </a:buClr>
              <a:buSzPts val="900"/>
              <a:buFont typeface="Calibri"/>
              <a:buNone/>
            </a:pPr>
            <a:r>
              <a:rPr b="1" i="0" lang="en-US" sz="900" u="none" cap="none" strike="noStrike">
                <a:solidFill>
                  <a:srgbClr val="00C8FF"/>
                </a:solidFill>
                <a:latin typeface="Calibri"/>
                <a:ea typeface="Calibri"/>
                <a:cs typeface="Calibri"/>
                <a:sym typeface="Calibri"/>
              </a:rPr>
              <a:t>S1</a:t>
            </a:r>
            <a:endParaRPr b="0" i="0" sz="900" u="none" cap="none" strike="noStrike">
              <a:solidFill>
                <a:schemeClr val="dk1"/>
              </a:solidFill>
              <a:latin typeface="Calibri"/>
              <a:ea typeface="Calibri"/>
              <a:cs typeface="Calibri"/>
              <a:sym typeface="Calibri"/>
            </a:endParaRPr>
          </a:p>
        </p:txBody>
      </p:sp>
      <p:sp>
        <p:nvSpPr>
          <p:cNvPr id="81" name="Google Shape;81;p3"/>
          <p:cNvSpPr/>
          <p:nvPr/>
        </p:nvSpPr>
        <p:spPr>
          <a:xfrm>
            <a:off x="1042416" y="1600200"/>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Digital Twin</a:t>
            </a:r>
            <a:endParaRPr b="0" i="0" sz="1300" u="none" cap="none" strike="noStrike">
              <a:solidFill>
                <a:schemeClr val="dk1"/>
              </a:solidFill>
              <a:latin typeface="Calibri"/>
              <a:ea typeface="Calibri"/>
              <a:cs typeface="Calibri"/>
              <a:sym typeface="Calibri"/>
            </a:endParaRPr>
          </a:p>
        </p:txBody>
      </p:sp>
      <p:sp>
        <p:nvSpPr>
          <p:cNvPr id="82" name="Google Shape;82;p3"/>
          <p:cNvSpPr/>
          <p:nvPr/>
        </p:nvSpPr>
        <p:spPr>
          <a:xfrm>
            <a:off x="484632" y="2039112"/>
            <a:ext cx="2359152"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C8DC"/>
              </a:buClr>
              <a:buSzPts val="1150"/>
              <a:buFont typeface="Calibri"/>
              <a:buNone/>
            </a:pPr>
            <a:r>
              <a:rPr b="0" i="0" lang="en-US" sz="1150" u="none" cap="none" strike="noStrike">
                <a:solidFill>
                  <a:srgbClr val="C0C8DC"/>
                </a:solidFill>
                <a:latin typeface="Calibri"/>
                <a:ea typeface="Calibri"/>
                <a:cs typeface="Calibri"/>
                <a:sym typeface="Calibri"/>
              </a:rPr>
              <a:t>Predicts near-term plant behavior</a:t>
            </a:r>
            <a:endParaRPr b="0" i="0" sz="1150" u="none" cap="none" strike="noStrike">
              <a:solidFill>
                <a:schemeClr val="dk1"/>
              </a:solidFill>
              <a:latin typeface="Calibri"/>
              <a:ea typeface="Calibri"/>
              <a:cs typeface="Calibri"/>
              <a:sym typeface="Calibri"/>
            </a:endParaRPr>
          </a:p>
        </p:txBody>
      </p:sp>
      <p:sp>
        <p:nvSpPr>
          <p:cNvPr id="83" name="Google Shape;83;p3"/>
          <p:cNvSpPr/>
          <p:nvPr/>
        </p:nvSpPr>
        <p:spPr>
          <a:xfrm>
            <a:off x="3182112" y="1508760"/>
            <a:ext cx="2633472" cy="1389888"/>
          </a:xfrm>
          <a:prstGeom prst="rect">
            <a:avLst/>
          </a:prstGeom>
          <a:solidFill>
            <a:srgbClr val="0F1628"/>
          </a:solidFill>
          <a:ln cap="flat" cmpd="sng" w="12700">
            <a:solidFill>
              <a:srgbClr val="FFB347"/>
            </a:solidFill>
            <a:prstDash val="solid"/>
            <a:round/>
            <a:headEnd len="sm" w="sm" type="none"/>
            <a:tailEnd len="sm" w="sm" type="none"/>
          </a:ln>
          <a:effectLst>
            <a:outerShdw blurRad="127000" rotWithShape="0" algn="bl" dir="8100000" dist="381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3182112" y="1508760"/>
            <a:ext cx="2633472" cy="50292"/>
          </a:xfrm>
          <a:prstGeom prst="rect">
            <a:avLst/>
          </a:prstGeom>
          <a:solidFill>
            <a:srgbClr val="FFB347"/>
          </a:solidFill>
          <a:ln cap="flat" cmpd="sng" w="12700">
            <a:solidFill>
              <a:srgbClr val="FFB3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3291840" y="1618488"/>
            <a:ext cx="502920" cy="219456"/>
          </a:xfrm>
          <a:prstGeom prst="roundRect">
            <a:avLst>
              <a:gd fmla="val 16667" name="adj"/>
            </a:avLst>
          </a:prstGeom>
          <a:solidFill>
            <a:srgbClr val="FFB347">
              <a:alpha val="21960"/>
            </a:srgbClr>
          </a:solidFill>
          <a:ln cap="flat" cmpd="sng" w="15225">
            <a:solidFill>
              <a:srgbClr val="FFB3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3291840" y="1618488"/>
            <a:ext cx="5029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B347"/>
              </a:buClr>
              <a:buSzPts val="900"/>
              <a:buFont typeface="Calibri"/>
              <a:buNone/>
            </a:pPr>
            <a:r>
              <a:rPr b="1" i="0" lang="en-US" sz="900" u="none" cap="none" strike="noStrike">
                <a:solidFill>
                  <a:srgbClr val="FFB347"/>
                </a:solidFill>
                <a:latin typeface="Calibri"/>
                <a:ea typeface="Calibri"/>
                <a:cs typeface="Calibri"/>
                <a:sym typeface="Calibri"/>
              </a:rPr>
              <a:t>S2</a:t>
            </a:r>
            <a:endParaRPr b="0" i="0" sz="900" u="none" cap="none" strike="noStrike">
              <a:solidFill>
                <a:schemeClr val="dk1"/>
              </a:solidFill>
              <a:latin typeface="Calibri"/>
              <a:ea typeface="Calibri"/>
              <a:cs typeface="Calibri"/>
              <a:sym typeface="Calibri"/>
            </a:endParaRPr>
          </a:p>
        </p:txBody>
      </p:sp>
      <p:sp>
        <p:nvSpPr>
          <p:cNvPr id="87" name="Google Shape;87;p3"/>
          <p:cNvSpPr/>
          <p:nvPr/>
        </p:nvSpPr>
        <p:spPr>
          <a:xfrm>
            <a:off x="3877056" y="1600200"/>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Human Monitoring</a:t>
            </a:r>
            <a:endParaRPr b="0" i="0" sz="1300" u="none" cap="none" strike="noStrike">
              <a:solidFill>
                <a:schemeClr val="dk1"/>
              </a:solidFill>
              <a:latin typeface="Calibri"/>
              <a:ea typeface="Calibri"/>
              <a:cs typeface="Calibri"/>
              <a:sym typeface="Calibri"/>
            </a:endParaRPr>
          </a:p>
        </p:txBody>
      </p:sp>
      <p:sp>
        <p:nvSpPr>
          <p:cNvPr id="88" name="Google Shape;88;p3"/>
          <p:cNvSpPr/>
          <p:nvPr/>
        </p:nvSpPr>
        <p:spPr>
          <a:xfrm>
            <a:off x="3319272" y="2039112"/>
            <a:ext cx="2359152"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C8DC"/>
              </a:buClr>
              <a:buSzPts val="1150"/>
              <a:buFont typeface="Calibri"/>
              <a:buNone/>
            </a:pPr>
            <a:r>
              <a:rPr b="0" i="0" lang="en-US" sz="1150" u="none" cap="none" strike="noStrike">
                <a:solidFill>
                  <a:srgbClr val="C0C8DC"/>
                </a:solidFill>
                <a:latin typeface="Calibri"/>
                <a:ea typeface="Calibri"/>
                <a:cs typeface="Calibri"/>
                <a:sym typeface="Calibri"/>
              </a:rPr>
              <a:t>Tracks operator workload &amp; attention</a:t>
            </a:r>
            <a:endParaRPr b="0" i="0" sz="1150" u="none" cap="none" strike="noStrike">
              <a:solidFill>
                <a:schemeClr val="dk1"/>
              </a:solidFill>
              <a:latin typeface="Calibri"/>
              <a:ea typeface="Calibri"/>
              <a:cs typeface="Calibri"/>
              <a:sym typeface="Calibri"/>
            </a:endParaRPr>
          </a:p>
        </p:txBody>
      </p:sp>
      <p:sp>
        <p:nvSpPr>
          <p:cNvPr id="89" name="Google Shape;89;p3"/>
          <p:cNvSpPr/>
          <p:nvPr/>
        </p:nvSpPr>
        <p:spPr>
          <a:xfrm>
            <a:off x="6016752" y="1508760"/>
            <a:ext cx="2633472" cy="1389888"/>
          </a:xfrm>
          <a:prstGeom prst="rect">
            <a:avLst/>
          </a:prstGeom>
          <a:solidFill>
            <a:srgbClr val="0F1628"/>
          </a:solidFill>
          <a:ln cap="flat" cmpd="sng" w="12700">
            <a:solidFill>
              <a:srgbClr val="C77DFF"/>
            </a:solidFill>
            <a:prstDash val="solid"/>
            <a:round/>
            <a:headEnd len="sm" w="sm" type="none"/>
            <a:tailEnd len="sm" w="sm" type="none"/>
          </a:ln>
          <a:effectLst>
            <a:outerShdw blurRad="127000" rotWithShape="0" algn="bl" dir="8100000" dist="381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6016752" y="1508760"/>
            <a:ext cx="2633472" cy="50292"/>
          </a:xfrm>
          <a:prstGeom prst="rect">
            <a:avLst/>
          </a:prstGeom>
          <a:solidFill>
            <a:srgbClr val="C77DFF"/>
          </a:solidFill>
          <a:ln cap="flat" cmpd="sng" w="12700">
            <a:solidFill>
              <a:srgbClr val="C77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a:off x="6126480" y="1618488"/>
            <a:ext cx="502920" cy="219456"/>
          </a:xfrm>
          <a:prstGeom prst="roundRect">
            <a:avLst>
              <a:gd fmla="val 16667" name="adj"/>
            </a:avLst>
          </a:prstGeom>
          <a:solidFill>
            <a:srgbClr val="C77DFF">
              <a:alpha val="21960"/>
            </a:srgbClr>
          </a:solidFill>
          <a:ln cap="flat" cmpd="sng" w="15225">
            <a:solidFill>
              <a:srgbClr val="C77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6126480" y="1618488"/>
            <a:ext cx="5029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7DFF"/>
              </a:buClr>
              <a:buSzPts val="900"/>
              <a:buFont typeface="Calibri"/>
              <a:buNone/>
            </a:pPr>
            <a:r>
              <a:rPr b="1" i="0" lang="en-US" sz="900" u="none" cap="none" strike="noStrike">
                <a:solidFill>
                  <a:srgbClr val="C77DFF"/>
                </a:solidFill>
                <a:latin typeface="Calibri"/>
                <a:ea typeface="Calibri"/>
                <a:cs typeface="Calibri"/>
                <a:sym typeface="Calibri"/>
              </a:rPr>
              <a:t>S3</a:t>
            </a:r>
            <a:endParaRPr b="0" i="0" sz="900" u="none" cap="none" strike="noStrike">
              <a:solidFill>
                <a:schemeClr val="dk1"/>
              </a:solidFill>
              <a:latin typeface="Calibri"/>
              <a:ea typeface="Calibri"/>
              <a:cs typeface="Calibri"/>
              <a:sym typeface="Calibri"/>
            </a:endParaRPr>
          </a:p>
        </p:txBody>
      </p:sp>
      <p:sp>
        <p:nvSpPr>
          <p:cNvPr id="93" name="Google Shape;93;p3"/>
          <p:cNvSpPr/>
          <p:nvPr/>
        </p:nvSpPr>
        <p:spPr>
          <a:xfrm>
            <a:off x="6711696" y="1600200"/>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Situation Assessment</a:t>
            </a:r>
            <a:endParaRPr b="0" i="0" sz="1300" u="none" cap="none" strike="noStrike">
              <a:solidFill>
                <a:schemeClr val="dk1"/>
              </a:solidFill>
              <a:latin typeface="Calibri"/>
              <a:ea typeface="Calibri"/>
              <a:cs typeface="Calibri"/>
              <a:sym typeface="Calibri"/>
            </a:endParaRPr>
          </a:p>
        </p:txBody>
      </p:sp>
      <p:sp>
        <p:nvSpPr>
          <p:cNvPr id="94" name="Google Shape;94;p3"/>
          <p:cNvSpPr/>
          <p:nvPr/>
        </p:nvSpPr>
        <p:spPr>
          <a:xfrm>
            <a:off x="6153912" y="2039112"/>
            <a:ext cx="2359152"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C8DC"/>
              </a:buClr>
              <a:buSzPts val="1150"/>
              <a:buFont typeface="Calibri"/>
              <a:buNone/>
            </a:pPr>
            <a:r>
              <a:rPr b="0" i="0" lang="en-US" sz="1150" u="none" cap="none" strike="noStrike">
                <a:solidFill>
                  <a:srgbClr val="C0C8DC"/>
                </a:solidFill>
                <a:latin typeface="Calibri"/>
                <a:ea typeface="Calibri"/>
                <a:cs typeface="Calibri"/>
                <a:sym typeface="Calibri"/>
              </a:rPr>
              <a:t>Combines plant risk + human state</a:t>
            </a:r>
            <a:endParaRPr b="0" i="0" sz="1150" u="none" cap="none" strike="noStrike">
              <a:solidFill>
                <a:schemeClr val="dk1"/>
              </a:solidFill>
              <a:latin typeface="Calibri"/>
              <a:ea typeface="Calibri"/>
              <a:cs typeface="Calibri"/>
              <a:sym typeface="Calibri"/>
            </a:endParaRPr>
          </a:p>
        </p:txBody>
      </p:sp>
      <p:sp>
        <p:nvSpPr>
          <p:cNvPr id="95" name="Google Shape;95;p3"/>
          <p:cNvSpPr/>
          <p:nvPr/>
        </p:nvSpPr>
        <p:spPr>
          <a:xfrm>
            <a:off x="347472" y="3063240"/>
            <a:ext cx="2633472" cy="1389888"/>
          </a:xfrm>
          <a:prstGeom prst="rect">
            <a:avLst/>
          </a:prstGeom>
          <a:solidFill>
            <a:srgbClr val="0F1628"/>
          </a:solidFill>
          <a:ln cap="flat" cmpd="sng" w="22850">
            <a:solidFill>
              <a:srgbClr val="7B61FF"/>
            </a:solidFill>
            <a:prstDash val="solid"/>
            <a:round/>
            <a:headEnd len="sm" w="sm" type="none"/>
            <a:tailEnd len="sm" w="sm" type="none"/>
          </a:ln>
          <a:effectLst>
            <a:outerShdw blurRad="228600" rotWithShape="0" algn="bl" dir="8100000" dist="50800">
              <a:srgbClr val="7B61FF">
                <a:alpha val="3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a:off x="347472" y="3063240"/>
            <a:ext cx="2633472" cy="50292"/>
          </a:xfrm>
          <a:prstGeom prst="rect">
            <a:avLst/>
          </a:prstGeom>
          <a:solidFill>
            <a:srgbClr val="7B61FF"/>
          </a:solidFill>
          <a:ln cap="flat" cmpd="sng" w="12700">
            <a:solidFill>
              <a:srgbClr val="7B61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a:off x="347472" y="3063240"/>
            <a:ext cx="2633472" cy="1389888"/>
          </a:xfrm>
          <a:prstGeom prst="rect">
            <a:avLst/>
          </a:prstGeom>
          <a:solidFill>
            <a:srgbClr val="7B61FF">
              <a:alpha val="9019"/>
            </a:srgbClr>
          </a:solidFill>
          <a:ln cap="flat" cmpd="sng" w="22850">
            <a:solidFill>
              <a:srgbClr val="7B61FF"/>
            </a:solidFill>
            <a:prstDash val="solid"/>
            <a:round/>
            <a:headEnd len="sm" w="sm" type="none"/>
            <a:tailEnd len="sm" w="sm" type="none"/>
          </a:ln>
          <a:effectLst>
            <a:outerShdw blurRad="254000" rotWithShape="0" algn="bl" dir="8100000" dist="50800">
              <a:srgbClr val="7B61FF">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457200" y="3172968"/>
            <a:ext cx="502920" cy="219456"/>
          </a:xfrm>
          <a:prstGeom prst="roundRect">
            <a:avLst>
              <a:gd fmla="val 16667" name="adj"/>
            </a:avLst>
          </a:prstGeom>
          <a:solidFill>
            <a:srgbClr val="7B61FF">
              <a:alpha val="21960"/>
            </a:srgbClr>
          </a:solidFill>
          <a:ln cap="flat" cmpd="sng" w="15225">
            <a:solidFill>
              <a:srgbClr val="7B61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a:off x="457200" y="3172968"/>
            <a:ext cx="5029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B61FF"/>
              </a:buClr>
              <a:buSzPts val="900"/>
              <a:buFont typeface="Calibri"/>
              <a:buNone/>
            </a:pPr>
            <a:r>
              <a:rPr b="1" i="0" lang="en-US" sz="900" u="none" cap="none" strike="noStrike">
                <a:solidFill>
                  <a:srgbClr val="7B61FF"/>
                </a:solidFill>
                <a:latin typeface="Calibri"/>
                <a:ea typeface="Calibri"/>
                <a:cs typeface="Calibri"/>
                <a:sym typeface="Calibri"/>
              </a:rPr>
              <a:t>S4</a:t>
            </a:r>
            <a:endParaRPr b="0" i="0" sz="900" u="none" cap="none" strike="noStrike">
              <a:solidFill>
                <a:schemeClr val="dk1"/>
              </a:solidFill>
              <a:latin typeface="Calibri"/>
              <a:ea typeface="Calibri"/>
              <a:cs typeface="Calibri"/>
              <a:sym typeface="Calibri"/>
            </a:endParaRPr>
          </a:p>
        </p:txBody>
      </p:sp>
      <p:sp>
        <p:nvSpPr>
          <p:cNvPr id="100" name="Google Shape;100;p3"/>
          <p:cNvSpPr/>
          <p:nvPr/>
        </p:nvSpPr>
        <p:spPr>
          <a:xfrm>
            <a:off x="1042416" y="3154680"/>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Decision Support</a:t>
            </a:r>
            <a:endParaRPr b="0" i="0" sz="1300" u="none" cap="none" strike="noStrike">
              <a:solidFill>
                <a:schemeClr val="dk1"/>
              </a:solidFill>
              <a:latin typeface="Calibri"/>
              <a:ea typeface="Calibri"/>
              <a:cs typeface="Calibri"/>
              <a:sym typeface="Calibri"/>
            </a:endParaRPr>
          </a:p>
        </p:txBody>
      </p:sp>
      <p:sp>
        <p:nvSpPr>
          <p:cNvPr id="101" name="Google Shape;101;p3"/>
          <p:cNvSpPr/>
          <p:nvPr/>
        </p:nvSpPr>
        <p:spPr>
          <a:xfrm>
            <a:off x="484632" y="3593592"/>
            <a:ext cx="2359152"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C8DC"/>
              </a:buClr>
              <a:buSzPts val="1150"/>
              <a:buFont typeface="Calibri"/>
              <a:buNone/>
            </a:pPr>
            <a:r>
              <a:rPr b="0" i="0" lang="en-US" sz="1150" u="none" cap="none" strike="noStrike">
                <a:solidFill>
                  <a:srgbClr val="C0C8DC"/>
                </a:solidFill>
                <a:latin typeface="Calibri"/>
                <a:ea typeface="Calibri"/>
                <a:cs typeface="Calibri"/>
                <a:sym typeface="Calibri"/>
              </a:rPr>
              <a:t>Dual-agent gate </a:t>
            </a:r>
            <a:r>
              <a:rPr lang="en-US" sz="1150">
                <a:solidFill>
                  <a:srgbClr val="C0C8DC"/>
                </a:solidFill>
                <a:latin typeface="Calibri"/>
                <a:ea typeface="Calibri"/>
                <a:cs typeface="Calibri"/>
                <a:sym typeface="Calibri"/>
              </a:rPr>
              <a:t>-</a:t>
            </a:r>
            <a:r>
              <a:rPr b="0" i="0" lang="en-US" sz="1150" u="none" cap="none" strike="noStrike">
                <a:solidFill>
                  <a:srgbClr val="C0C8DC"/>
                </a:solidFill>
                <a:latin typeface="Calibri"/>
                <a:ea typeface="Calibri"/>
                <a:cs typeface="Calibri"/>
                <a:sym typeface="Calibri"/>
              </a:rPr>
              <a:t> core innovation </a:t>
            </a:r>
            <a:endParaRPr b="0" i="0" sz="1150" u="none" cap="none" strike="noStrike">
              <a:solidFill>
                <a:schemeClr val="dk1"/>
              </a:solidFill>
              <a:latin typeface="Calibri"/>
              <a:ea typeface="Calibri"/>
              <a:cs typeface="Calibri"/>
              <a:sym typeface="Calibri"/>
            </a:endParaRPr>
          </a:p>
        </p:txBody>
      </p:sp>
      <p:sp>
        <p:nvSpPr>
          <p:cNvPr id="102" name="Google Shape;102;p3"/>
          <p:cNvSpPr/>
          <p:nvPr/>
        </p:nvSpPr>
        <p:spPr>
          <a:xfrm>
            <a:off x="3182112" y="3063240"/>
            <a:ext cx="2633472" cy="1389888"/>
          </a:xfrm>
          <a:prstGeom prst="rect">
            <a:avLst/>
          </a:prstGeom>
          <a:solidFill>
            <a:srgbClr val="0F1628"/>
          </a:solidFill>
          <a:ln cap="flat" cmpd="sng" w="12700">
            <a:solidFill>
              <a:srgbClr val="00B4D8"/>
            </a:solidFill>
            <a:prstDash val="solid"/>
            <a:round/>
            <a:headEnd len="sm" w="sm" type="none"/>
            <a:tailEnd len="sm" w="sm" type="none"/>
          </a:ln>
          <a:effectLst>
            <a:outerShdw blurRad="127000" rotWithShape="0" algn="bl" dir="8100000" dist="381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a:off x="3182112" y="3063240"/>
            <a:ext cx="2633472" cy="50292"/>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3291840" y="3172968"/>
            <a:ext cx="502920" cy="219456"/>
          </a:xfrm>
          <a:prstGeom prst="roundRect">
            <a:avLst>
              <a:gd fmla="val 16667" name="adj"/>
            </a:avLst>
          </a:prstGeom>
          <a:solidFill>
            <a:srgbClr val="00B4D8">
              <a:alpha val="21960"/>
            </a:srgbClr>
          </a:solidFill>
          <a:ln cap="flat" cmpd="sng" w="152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3291840" y="3172968"/>
            <a:ext cx="5029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4D8"/>
              </a:buClr>
              <a:buSzPts val="900"/>
              <a:buFont typeface="Calibri"/>
              <a:buNone/>
            </a:pPr>
            <a:r>
              <a:rPr b="1" i="0" lang="en-US" sz="900" u="none" cap="none" strike="noStrike">
                <a:solidFill>
                  <a:srgbClr val="00B4D8"/>
                </a:solidFill>
                <a:latin typeface="Calibri"/>
                <a:ea typeface="Calibri"/>
                <a:cs typeface="Calibri"/>
                <a:sym typeface="Calibri"/>
              </a:rPr>
              <a:t>S5</a:t>
            </a:r>
            <a:endParaRPr b="0" i="0" sz="900" u="none" cap="none" strike="noStrike">
              <a:solidFill>
                <a:schemeClr val="dk1"/>
              </a:solidFill>
              <a:latin typeface="Calibri"/>
              <a:ea typeface="Calibri"/>
              <a:cs typeface="Calibri"/>
              <a:sym typeface="Calibri"/>
            </a:endParaRPr>
          </a:p>
        </p:txBody>
      </p:sp>
      <p:sp>
        <p:nvSpPr>
          <p:cNvPr id="106" name="Google Shape;106;p3"/>
          <p:cNvSpPr/>
          <p:nvPr/>
        </p:nvSpPr>
        <p:spPr>
          <a:xfrm>
            <a:off x="3877056" y="3154680"/>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Adaptive Interface</a:t>
            </a:r>
            <a:endParaRPr b="0" i="0" sz="1300" u="none" cap="none" strike="noStrike">
              <a:solidFill>
                <a:schemeClr val="dk1"/>
              </a:solidFill>
              <a:latin typeface="Calibri"/>
              <a:ea typeface="Calibri"/>
              <a:cs typeface="Calibri"/>
              <a:sym typeface="Calibri"/>
            </a:endParaRPr>
          </a:p>
        </p:txBody>
      </p:sp>
      <p:sp>
        <p:nvSpPr>
          <p:cNvPr id="107" name="Google Shape;107;p3"/>
          <p:cNvSpPr/>
          <p:nvPr/>
        </p:nvSpPr>
        <p:spPr>
          <a:xfrm>
            <a:off x="3319272" y="3593592"/>
            <a:ext cx="2359152"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C8DC"/>
              </a:buClr>
              <a:buSzPts val="1150"/>
              <a:buFont typeface="Calibri"/>
              <a:buNone/>
            </a:pPr>
            <a:r>
              <a:rPr b="0" i="0" lang="en-US" sz="1150" u="none" cap="none" strike="noStrike">
                <a:solidFill>
                  <a:srgbClr val="C0C8DC"/>
                </a:solidFill>
                <a:latin typeface="Calibri"/>
                <a:ea typeface="Calibri"/>
                <a:cs typeface="Calibri"/>
                <a:sym typeface="Calibri"/>
              </a:rPr>
              <a:t>Adjusts display to cognitive load</a:t>
            </a:r>
            <a:endParaRPr b="0" i="0" sz="1150" u="none" cap="none" strike="noStrike">
              <a:solidFill>
                <a:schemeClr val="dk1"/>
              </a:solidFill>
              <a:latin typeface="Calibri"/>
              <a:ea typeface="Calibri"/>
              <a:cs typeface="Calibri"/>
              <a:sym typeface="Calibri"/>
            </a:endParaRPr>
          </a:p>
        </p:txBody>
      </p:sp>
      <p:sp>
        <p:nvSpPr>
          <p:cNvPr id="108" name="Google Shape;108;p3"/>
          <p:cNvSpPr/>
          <p:nvPr/>
        </p:nvSpPr>
        <p:spPr>
          <a:xfrm>
            <a:off x="6016752" y="3063240"/>
            <a:ext cx="2633472" cy="1389888"/>
          </a:xfrm>
          <a:prstGeom prst="rect">
            <a:avLst/>
          </a:prstGeom>
          <a:solidFill>
            <a:srgbClr val="0F1628"/>
          </a:solidFill>
          <a:ln cap="flat" cmpd="sng" w="12700">
            <a:solidFill>
              <a:srgbClr val="FFCF44"/>
            </a:solidFill>
            <a:prstDash val="solid"/>
            <a:round/>
            <a:headEnd len="sm" w="sm" type="none"/>
            <a:tailEnd len="sm" w="sm" type="none"/>
          </a:ln>
          <a:effectLst>
            <a:outerShdw blurRad="127000" rotWithShape="0" algn="bl" dir="8100000" dist="38100">
              <a:srgbClr val="000000">
                <a:alpha val="3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6016752" y="3063240"/>
            <a:ext cx="2633472" cy="50292"/>
          </a:xfrm>
          <a:prstGeom prst="rect">
            <a:avLst/>
          </a:prstGeom>
          <a:solidFill>
            <a:srgbClr val="FFCF44"/>
          </a:solidFill>
          <a:ln cap="flat" cmpd="sng" w="12700">
            <a:solidFill>
              <a:srgbClr val="FFCF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a:off x="6126480" y="3172968"/>
            <a:ext cx="502920" cy="219456"/>
          </a:xfrm>
          <a:prstGeom prst="roundRect">
            <a:avLst>
              <a:gd fmla="val 16667" name="adj"/>
            </a:avLst>
          </a:prstGeom>
          <a:solidFill>
            <a:srgbClr val="FFCF44">
              <a:alpha val="21960"/>
            </a:srgbClr>
          </a:solidFill>
          <a:ln cap="flat" cmpd="sng" w="15225">
            <a:solidFill>
              <a:srgbClr val="FFCF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6126480" y="3172968"/>
            <a:ext cx="50292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F44"/>
              </a:buClr>
              <a:buSzPts val="900"/>
              <a:buFont typeface="Calibri"/>
              <a:buNone/>
            </a:pPr>
            <a:r>
              <a:rPr b="1" i="0" lang="en-US" sz="900" u="none" cap="none" strike="noStrike">
                <a:solidFill>
                  <a:srgbClr val="FFCF44"/>
                </a:solidFill>
                <a:latin typeface="Calibri"/>
                <a:ea typeface="Calibri"/>
                <a:cs typeface="Calibri"/>
                <a:sym typeface="Calibri"/>
              </a:rPr>
              <a:t>S6</a:t>
            </a:r>
            <a:endParaRPr b="0" i="0" sz="900" u="none" cap="none" strike="noStrike">
              <a:solidFill>
                <a:schemeClr val="dk1"/>
              </a:solidFill>
              <a:latin typeface="Calibri"/>
              <a:ea typeface="Calibri"/>
              <a:cs typeface="Calibri"/>
              <a:sym typeface="Calibri"/>
            </a:endParaRPr>
          </a:p>
        </p:txBody>
      </p:sp>
      <p:sp>
        <p:nvSpPr>
          <p:cNvPr id="112" name="Google Shape;112;p3"/>
          <p:cNvSpPr/>
          <p:nvPr/>
        </p:nvSpPr>
        <p:spPr>
          <a:xfrm>
            <a:off x="6711696" y="3154680"/>
            <a:ext cx="18288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Scenario Evaluation</a:t>
            </a:r>
            <a:endParaRPr b="0" i="0" sz="1300" u="none" cap="none" strike="noStrike">
              <a:solidFill>
                <a:schemeClr val="dk1"/>
              </a:solidFill>
              <a:latin typeface="Calibri"/>
              <a:ea typeface="Calibri"/>
              <a:cs typeface="Calibri"/>
              <a:sym typeface="Calibri"/>
            </a:endParaRPr>
          </a:p>
        </p:txBody>
      </p:sp>
      <p:sp>
        <p:nvSpPr>
          <p:cNvPr id="113" name="Google Shape;113;p3"/>
          <p:cNvSpPr/>
          <p:nvPr/>
        </p:nvSpPr>
        <p:spPr>
          <a:xfrm>
            <a:off x="6153912" y="3593592"/>
            <a:ext cx="2359152" cy="7498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C8DC"/>
              </a:buClr>
              <a:buSzPts val="1150"/>
              <a:buFont typeface="Calibri"/>
              <a:buNone/>
            </a:pPr>
            <a:r>
              <a:rPr b="0" i="0" lang="en-US" sz="1150" u="none" cap="none" strike="noStrike">
                <a:solidFill>
                  <a:srgbClr val="C0C8DC"/>
                </a:solidFill>
                <a:latin typeface="Calibri"/>
                <a:ea typeface="Calibri"/>
                <a:cs typeface="Calibri"/>
                <a:sym typeface="Calibri"/>
              </a:rPr>
              <a:t>Compares strategies &amp; outcomes</a:t>
            </a:r>
            <a:endParaRPr b="0" i="0" sz="1150" u="none" cap="none" strike="noStrike">
              <a:solidFill>
                <a:schemeClr val="dk1"/>
              </a:solidFill>
              <a:latin typeface="Calibri"/>
              <a:ea typeface="Calibri"/>
              <a:cs typeface="Calibri"/>
              <a:sym typeface="Calibri"/>
            </a:endParaRPr>
          </a:p>
        </p:txBody>
      </p:sp>
      <p:sp>
        <p:nvSpPr>
          <p:cNvPr id="114" name="Google Shape;114;p3"/>
          <p:cNvSpPr/>
          <p:nvPr/>
        </p:nvSpPr>
        <p:spPr>
          <a:xfrm>
            <a:off x="0" y="4988052"/>
            <a:ext cx="9144000" cy="155448"/>
          </a:xfrm>
          <a:prstGeom prst="rect">
            <a:avLst/>
          </a:prstGeom>
          <a:solidFill>
            <a:srgbClr val="0F1628"/>
          </a:solidFill>
          <a:ln cap="flat" cmpd="sng" w="12700">
            <a:solidFill>
              <a:srgbClr val="1A22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274320" y="4988052"/>
            <a:ext cx="4572000" cy="1554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470"/>
              </a:buClr>
              <a:buSzPts val="850"/>
              <a:buFont typeface="Calibri"/>
              <a:buNone/>
            </a:pPr>
            <a:r>
              <a:rPr b="0" i="0" lang="en-US" sz="850" u="none" cap="none" strike="noStrike">
                <a:solidFill>
                  <a:srgbClr val="4A5470"/>
                </a:solidFill>
                <a:latin typeface="Calibri"/>
                <a:ea typeface="Calibri"/>
                <a:cs typeface="Calibri"/>
                <a:sym typeface="Calibri"/>
              </a:rPr>
              <a:t>Human-Aware AI Safety Gate</a:t>
            </a:r>
            <a:endParaRPr b="0" i="0" sz="850" u="none" cap="none" strike="noStrike">
              <a:solidFill>
                <a:schemeClr val="dk1"/>
              </a:solidFill>
              <a:latin typeface="Calibri"/>
              <a:ea typeface="Calibri"/>
              <a:cs typeface="Calibri"/>
              <a:sym typeface="Calibri"/>
            </a:endParaRPr>
          </a:p>
        </p:txBody>
      </p:sp>
      <p:sp>
        <p:nvSpPr>
          <p:cNvPr id="116" name="Google Shape;116;p3"/>
          <p:cNvSpPr/>
          <p:nvPr/>
        </p:nvSpPr>
        <p:spPr>
          <a:xfrm>
            <a:off x="8138160" y="4988052"/>
            <a:ext cx="731520" cy="1554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470"/>
              </a:buClr>
              <a:buSzPts val="850"/>
              <a:buFont typeface="Calibri"/>
              <a:buNone/>
            </a:pPr>
            <a:r>
              <a:rPr b="0" i="0" lang="en-US" sz="850" u="none" cap="none" strike="noStrike">
                <a:solidFill>
                  <a:srgbClr val="4A5470"/>
                </a:solidFill>
                <a:latin typeface="Calibri"/>
                <a:ea typeface="Calibri"/>
                <a:cs typeface="Calibri"/>
                <a:sym typeface="Calibri"/>
              </a:rPr>
              <a:t>3 / 7</a:t>
            </a:r>
            <a:endParaRPr b="0" i="0" sz="850" u="none" cap="none" strike="noStrike">
              <a:solidFill>
                <a:schemeClr val="dk1"/>
              </a:solidFill>
              <a:latin typeface="Calibri"/>
              <a:ea typeface="Calibri"/>
              <a:cs typeface="Calibri"/>
              <a:sym typeface="Calibri"/>
            </a:endParaRPr>
          </a:p>
        </p:txBody>
      </p:sp>
      <p:pic>
        <p:nvPicPr>
          <p:cNvPr id="117" name="Google Shape;117;p3"/>
          <p:cNvPicPr preferRelativeResize="0"/>
          <p:nvPr/>
        </p:nvPicPr>
        <p:blipFill>
          <a:blip r:embed="rId3">
            <a:alphaModFix/>
          </a:blip>
          <a:stretch>
            <a:fillRect/>
          </a:stretch>
        </p:blipFill>
        <p:spPr>
          <a:xfrm>
            <a:off x="0" y="4475"/>
            <a:ext cx="9144002" cy="51345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C18"/>
        </a:solidFill>
      </p:bgPr>
    </p:bg>
    <p:spTree>
      <p:nvGrpSpPr>
        <p:cNvPr id="122" name="Shape 122"/>
        <p:cNvGrpSpPr/>
        <p:nvPr/>
      </p:nvGrpSpPr>
      <p:grpSpPr>
        <a:xfrm>
          <a:off x="0" y="0"/>
          <a:ext cx="0" cy="0"/>
          <a:chOff x="0" y="0"/>
          <a:chExt cx="0" cy="0"/>
        </a:xfrm>
      </p:grpSpPr>
      <p:pic>
        <p:nvPicPr>
          <p:cNvPr descr="preencoded.png" id="123" name="Google Shape;123;p4"/>
          <p:cNvPicPr preferRelativeResize="0"/>
          <p:nvPr/>
        </p:nvPicPr>
        <p:blipFill rotWithShape="1">
          <a:blip r:embed="rId3">
            <a:alphaModFix amt="8000"/>
          </a:blip>
          <a:srcRect b="0" l="0" r="0" t="0"/>
          <a:stretch/>
        </p:blipFill>
        <p:spPr>
          <a:xfrm>
            <a:off x="-841477" y="2074625"/>
            <a:ext cx="4284800" cy="4284800"/>
          </a:xfrm>
          <a:prstGeom prst="rect">
            <a:avLst/>
          </a:prstGeom>
          <a:noFill/>
          <a:ln>
            <a:noFill/>
          </a:ln>
        </p:spPr>
      </p:pic>
      <p:sp>
        <p:nvSpPr>
          <p:cNvPr id="124" name="Google Shape;124;p4"/>
          <p:cNvSpPr/>
          <p:nvPr/>
        </p:nvSpPr>
        <p:spPr>
          <a:xfrm>
            <a:off x="365760" y="109728"/>
            <a:ext cx="1737360" cy="219456"/>
          </a:xfrm>
          <a:prstGeom prst="roundRect">
            <a:avLst>
              <a:gd fmla="val 16667" name="adj"/>
            </a:avLst>
          </a:prstGeom>
          <a:solidFill>
            <a:srgbClr val="7B61FF">
              <a:alpha val="18039"/>
            </a:srgbClr>
          </a:solidFill>
          <a:ln cap="flat" cmpd="sng" w="15225">
            <a:solidFill>
              <a:srgbClr val="7B61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p:nvPr/>
        </p:nvSpPr>
        <p:spPr>
          <a:xfrm>
            <a:off x="365760" y="109728"/>
            <a:ext cx="173736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B61FF"/>
              </a:buClr>
              <a:buSzPts val="850"/>
              <a:buFont typeface="Calibri"/>
              <a:buNone/>
            </a:pPr>
            <a:r>
              <a:rPr b="1" i="0" lang="en-US" sz="850" u="none" cap="none" strike="noStrike">
                <a:solidFill>
                  <a:srgbClr val="7B61FF"/>
                </a:solidFill>
                <a:latin typeface="Calibri"/>
                <a:ea typeface="Calibri"/>
                <a:cs typeface="Calibri"/>
                <a:sym typeface="Calibri"/>
              </a:rPr>
              <a:t>ARCHITECTURE</a:t>
            </a:r>
            <a:endParaRPr b="0" i="0" sz="850" u="none" cap="none" strike="noStrike">
              <a:solidFill>
                <a:schemeClr val="dk1"/>
              </a:solidFill>
              <a:latin typeface="Calibri"/>
              <a:ea typeface="Calibri"/>
              <a:cs typeface="Calibri"/>
              <a:sym typeface="Calibri"/>
            </a:endParaRPr>
          </a:p>
        </p:txBody>
      </p:sp>
      <p:sp>
        <p:nvSpPr>
          <p:cNvPr id="126" name="Google Shape;126;p4"/>
          <p:cNvSpPr/>
          <p:nvPr/>
        </p:nvSpPr>
        <p:spPr>
          <a:xfrm>
            <a:off x="365756" y="2297425"/>
            <a:ext cx="32499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libri"/>
              <a:buNone/>
            </a:pPr>
            <a:r>
              <a:rPr b="1" lang="en-US" sz="4700">
                <a:solidFill>
                  <a:srgbClr val="FFFFFF"/>
                </a:solidFill>
                <a:latin typeface="Calibri"/>
                <a:ea typeface="Calibri"/>
                <a:cs typeface="Calibri"/>
                <a:sym typeface="Calibri"/>
              </a:rPr>
              <a:t>Proposed System Architecture</a:t>
            </a:r>
            <a:endParaRPr b="0" i="0" sz="4700" u="none" cap="none" strike="noStrike">
              <a:solidFill>
                <a:schemeClr val="dk1"/>
              </a:solidFill>
              <a:latin typeface="Calibri"/>
              <a:ea typeface="Calibri"/>
              <a:cs typeface="Calibri"/>
              <a:sym typeface="Calibri"/>
            </a:endParaRPr>
          </a:p>
        </p:txBody>
      </p:sp>
      <p:sp>
        <p:nvSpPr>
          <p:cNvPr id="127" name="Google Shape;127;p4"/>
          <p:cNvSpPr/>
          <p:nvPr/>
        </p:nvSpPr>
        <p:spPr>
          <a:xfrm>
            <a:off x="8138160" y="4988052"/>
            <a:ext cx="731520" cy="1554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470"/>
              </a:buClr>
              <a:buSzPts val="850"/>
              <a:buFont typeface="Calibri"/>
              <a:buNone/>
            </a:pPr>
            <a:r>
              <a:rPr b="0" i="0" lang="en-US" sz="850" u="none" cap="none" strike="noStrike">
                <a:solidFill>
                  <a:srgbClr val="4A5470"/>
                </a:solidFill>
                <a:latin typeface="Calibri"/>
                <a:ea typeface="Calibri"/>
                <a:cs typeface="Calibri"/>
                <a:sym typeface="Calibri"/>
              </a:rPr>
              <a:t>4 / 7</a:t>
            </a:r>
            <a:endParaRPr b="0" i="0" sz="850" u="none" cap="none" strike="noStrike">
              <a:solidFill>
                <a:schemeClr val="dk1"/>
              </a:solidFill>
              <a:latin typeface="Calibri"/>
              <a:ea typeface="Calibri"/>
              <a:cs typeface="Calibri"/>
              <a:sym typeface="Calibri"/>
            </a:endParaRPr>
          </a:p>
        </p:txBody>
      </p:sp>
      <p:pic>
        <p:nvPicPr>
          <p:cNvPr id="128" name="Google Shape;128;p4" title="CI Competition 2026 Flowchart (2).png"/>
          <p:cNvPicPr preferRelativeResize="0"/>
          <p:nvPr/>
        </p:nvPicPr>
        <p:blipFill>
          <a:blip r:embed="rId4">
            <a:alphaModFix/>
          </a:blip>
          <a:stretch>
            <a:fillRect/>
          </a:stretch>
        </p:blipFill>
        <p:spPr>
          <a:xfrm>
            <a:off x="3887800" y="0"/>
            <a:ext cx="5256198" cy="5143498"/>
          </a:xfrm>
          <a:prstGeom prst="rect">
            <a:avLst/>
          </a:prstGeom>
          <a:noFill/>
          <a:ln>
            <a:noFill/>
          </a:ln>
        </p:spPr>
      </p:pic>
      <p:pic>
        <p:nvPicPr>
          <p:cNvPr id="129" name="Google Shape;129;p4"/>
          <p:cNvPicPr preferRelativeResize="0"/>
          <p:nvPr/>
        </p:nvPicPr>
        <p:blipFill>
          <a:blip r:embed="rId5">
            <a:alphaModFix/>
          </a:blip>
          <a:stretch>
            <a:fillRect/>
          </a:stretch>
        </p:blipFill>
        <p:spPr>
          <a:xfrm>
            <a:off x="0" y="7343"/>
            <a:ext cx="9144000" cy="512881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C18"/>
        </a:solidFill>
      </p:bgPr>
    </p:bg>
    <p:spTree>
      <p:nvGrpSpPr>
        <p:cNvPr id="134" name="Shape 134"/>
        <p:cNvGrpSpPr/>
        <p:nvPr/>
      </p:nvGrpSpPr>
      <p:grpSpPr>
        <a:xfrm>
          <a:off x="0" y="0"/>
          <a:ext cx="0" cy="0"/>
          <a:chOff x="0" y="0"/>
          <a:chExt cx="0" cy="0"/>
        </a:xfrm>
      </p:grpSpPr>
      <p:sp>
        <p:nvSpPr>
          <p:cNvPr id="135" name="Google Shape;135;g3de12cea442_4_0"/>
          <p:cNvSpPr/>
          <p:nvPr/>
        </p:nvSpPr>
        <p:spPr>
          <a:xfrm>
            <a:off x="365760" y="109728"/>
            <a:ext cx="1737300" cy="219600"/>
          </a:xfrm>
          <a:prstGeom prst="roundRect">
            <a:avLst>
              <a:gd fmla="val 16667" name="adj"/>
            </a:avLst>
          </a:prstGeom>
          <a:solidFill>
            <a:srgbClr val="00E5A0">
              <a:alpha val="18040"/>
            </a:srgbClr>
          </a:solidFill>
          <a:ln cap="flat" cmpd="sng" w="15225">
            <a:solidFill>
              <a:srgbClr val="00E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de12cea442_4_0"/>
          <p:cNvSpPr/>
          <p:nvPr/>
        </p:nvSpPr>
        <p:spPr>
          <a:xfrm>
            <a:off x="365760" y="109728"/>
            <a:ext cx="17373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E5A0"/>
              </a:buClr>
              <a:buSzPts val="850"/>
              <a:buFont typeface="Calibri"/>
              <a:buNone/>
            </a:pPr>
            <a:r>
              <a:rPr b="1" i="0" lang="en-US" sz="850" u="none" cap="none" strike="noStrike">
                <a:solidFill>
                  <a:srgbClr val="00E5A0"/>
                </a:solidFill>
                <a:latin typeface="Calibri"/>
                <a:ea typeface="Calibri"/>
                <a:cs typeface="Calibri"/>
                <a:sym typeface="Calibri"/>
              </a:rPr>
              <a:t>OUR SOLUTION</a:t>
            </a:r>
            <a:endParaRPr b="0" i="0" sz="850" u="none" cap="none" strike="noStrike">
              <a:solidFill>
                <a:schemeClr val="dk1"/>
              </a:solidFill>
              <a:latin typeface="Calibri"/>
              <a:ea typeface="Calibri"/>
              <a:cs typeface="Calibri"/>
              <a:sym typeface="Calibri"/>
            </a:endParaRPr>
          </a:p>
        </p:txBody>
      </p:sp>
      <p:sp>
        <p:nvSpPr>
          <p:cNvPr id="137" name="Google Shape;137;g3de12cea442_4_0"/>
          <p:cNvSpPr/>
          <p:nvPr/>
        </p:nvSpPr>
        <p:spPr>
          <a:xfrm>
            <a:off x="365760" y="402336"/>
            <a:ext cx="8412600" cy="567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libri"/>
              <a:buNone/>
            </a:pPr>
            <a:r>
              <a:rPr b="1" lang="en-US" sz="3000">
                <a:solidFill>
                  <a:srgbClr val="FFFFFF"/>
                </a:solidFill>
                <a:latin typeface="Calibri"/>
                <a:ea typeface="Calibri"/>
                <a:cs typeface="Calibri"/>
                <a:sym typeface="Calibri"/>
              </a:rPr>
              <a:t>Dual Agent Decision Solution</a:t>
            </a:r>
            <a:endParaRPr b="0" i="0" sz="3000" u="none" cap="none" strike="noStrike">
              <a:solidFill>
                <a:schemeClr val="dk1"/>
              </a:solidFill>
              <a:latin typeface="Calibri"/>
              <a:ea typeface="Calibri"/>
              <a:cs typeface="Calibri"/>
              <a:sym typeface="Calibri"/>
            </a:endParaRPr>
          </a:p>
        </p:txBody>
      </p:sp>
      <p:sp>
        <p:nvSpPr>
          <p:cNvPr id="138" name="Google Shape;138;g3de12cea442_4_0"/>
          <p:cNvSpPr/>
          <p:nvPr/>
        </p:nvSpPr>
        <p:spPr>
          <a:xfrm>
            <a:off x="365760" y="1005840"/>
            <a:ext cx="8412600" cy="347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C8DC"/>
              </a:buClr>
              <a:buSzPts val="1300"/>
              <a:buFont typeface="Calibri"/>
              <a:buNone/>
            </a:pPr>
            <a:r>
              <a:t/>
            </a:r>
            <a:endParaRPr b="0" i="0" sz="1300" u="none" cap="none" strike="noStrike">
              <a:solidFill>
                <a:schemeClr val="dk1"/>
              </a:solidFill>
              <a:latin typeface="Calibri"/>
              <a:ea typeface="Calibri"/>
              <a:cs typeface="Calibri"/>
              <a:sym typeface="Calibri"/>
            </a:endParaRPr>
          </a:p>
        </p:txBody>
      </p:sp>
      <p:sp>
        <p:nvSpPr>
          <p:cNvPr id="139" name="Google Shape;139;g3de12cea442_4_0"/>
          <p:cNvSpPr/>
          <p:nvPr/>
        </p:nvSpPr>
        <p:spPr>
          <a:xfrm>
            <a:off x="0" y="4988052"/>
            <a:ext cx="9144000" cy="155400"/>
          </a:xfrm>
          <a:prstGeom prst="rect">
            <a:avLst/>
          </a:prstGeom>
          <a:solidFill>
            <a:srgbClr val="0F1628"/>
          </a:solidFill>
          <a:ln cap="flat" cmpd="sng" w="12700">
            <a:solidFill>
              <a:srgbClr val="1A22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de12cea442_4_0"/>
          <p:cNvSpPr/>
          <p:nvPr/>
        </p:nvSpPr>
        <p:spPr>
          <a:xfrm>
            <a:off x="274320" y="4988052"/>
            <a:ext cx="4572000" cy="15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470"/>
              </a:buClr>
              <a:buSzPts val="850"/>
              <a:buFont typeface="Calibri"/>
              <a:buNone/>
            </a:pPr>
            <a:r>
              <a:rPr b="0" i="0" lang="en-US" sz="850" u="none" cap="none" strike="noStrike">
                <a:solidFill>
                  <a:srgbClr val="4A5470"/>
                </a:solidFill>
                <a:latin typeface="Calibri"/>
                <a:ea typeface="Calibri"/>
                <a:cs typeface="Calibri"/>
                <a:sym typeface="Calibri"/>
              </a:rPr>
              <a:t>Human-Aware AI Safety Gate</a:t>
            </a:r>
            <a:endParaRPr b="0" i="0" sz="850" u="none" cap="none" strike="noStrike">
              <a:solidFill>
                <a:schemeClr val="dk1"/>
              </a:solidFill>
              <a:latin typeface="Calibri"/>
              <a:ea typeface="Calibri"/>
              <a:cs typeface="Calibri"/>
              <a:sym typeface="Calibri"/>
            </a:endParaRPr>
          </a:p>
        </p:txBody>
      </p:sp>
      <p:sp>
        <p:nvSpPr>
          <p:cNvPr id="141" name="Google Shape;141;g3de12cea442_4_0"/>
          <p:cNvSpPr/>
          <p:nvPr/>
        </p:nvSpPr>
        <p:spPr>
          <a:xfrm>
            <a:off x="8138160" y="4988052"/>
            <a:ext cx="731400" cy="155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470"/>
              </a:buClr>
              <a:buSzPts val="850"/>
              <a:buFont typeface="Calibri"/>
              <a:buNone/>
            </a:pPr>
            <a:r>
              <a:rPr b="0" i="0" lang="en-US" sz="850" u="none" cap="none" strike="noStrike">
                <a:solidFill>
                  <a:srgbClr val="4A5470"/>
                </a:solidFill>
                <a:latin typeface="Calibri"/>
                <a:ea typeface="Calibri"/>
                <a:cs typeface="Calibri"/>
                <a:sym typeface="Calibri"/>
              </a:rPr>
              <a:t>3 / 7</a:t>
            </a:r>
            <a:endParaRPr b="0" i="0" sz="850" u="none" cap="none" strike="noStrike">
              <a:solidFill>
                <a:schemeClr val="dk1"/>
              </a:solidFill>
              <a:latin typeface="Calibri"/>
              <a:ea typeface="Calibri"/>
              <a:cs typeface="Calibri"/>
              <a:sym typeface="Calibri"/>
            </a:endParaRPr>
          </a:p>
        </p:txBody>
      </p:sp>
      <p:sp>
        <p:nvSpPr>
          <p:cNvPr id="142" name="Google Shape;142;g3de12cea442_4_0"/>
          <p:cNvSpPr/>
          <p:nvPr/>
        </p:nvSpPr>
        <p:spPr>
          <a:xfrm>
            <a:off x="481974" y="1213450"/>
            <a:ext cx="4035600" cy="3291900"/>
          </a:xfrm>
          <a:prstGeom prst="rect">
            <a:avLst/>
          </a:prstGeom>
          <a:solidFill>
            <a:srgbClr val="0F1628"/>
          </a:solidFill>
          <a:ln cap="flat" cmpd="sng" w="12700">
            <a:solidFill>
              <a:schemeClr val="accent6"/>
            </a:solidFill>
            <a:prstDash val="solid"/>
            <a:round/>
            <a:headEnd len="sm" w="sm" type="none"/>
            <a:tailEnd len="sm" w="sm" type="none"/>
          </a:ln>
          <a:effectLst>
            <a:outerShdw blurRad="127000" rotWithShape="0" algn="bl" dir="8100000" dist="38100">
              <a:srgbClr val="000000">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g3de12cea442_4_0"/>
          <p:cNvSpPr/>
          <p:nvPr/>
        </p:nvSpPr>
        <p:spPr>
          <a:xfrm>
            <a:off x="773727" y="1505950"/>
            <a:ext cx="34521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lang="en-US">
                <a:solidFill>
                  <a:srgbClr val="FFFFFF"/>
                </a:solidFill>
                <a:latin typeface="Calibri"/>
                <a:ea typeface="Calibri"/>
                <a:cs typeface="Calibri"/>
                <a:sym typeface="Calibri"/>
              </a:rPr>
              <a:t>Dynamic Influence Diagram (DID)</a:t>
            </a:r>
            <a:endParaRPr b="0" i="0" sz="1400" u="none" cap="none" strike="noStrike">
              <a:solidFill>
                <a:schemeClr val="dk1"/>
              </a:solidFill>
              <a:latin typeface="Calibri"/>
              <a:ea typeface="Calibri"/>
              <a:cs typeface="Calibri"/>
              <a:sym typeface="Calibri"/>
            </a:endParaRPr>
          </a:p>
        </p:txBody>
      </p:sp>
      <p:sp>
        <p:nvSpPr>
          <p:cNvPr id="144" name="Google Shape;144;g3de12cea442_4_0"/>
          <p:cNvSpPr/>
          <p:nvPr/>
        </p:nvSpPr>
        <p:spPr>
          <a:xfrm>
            <a:off x="776725" y="1917550"/>
            <a:ext cx="3398400" cy="2141400"/>
          </a:xfrm>
          <a:prstGeom prst="rect">
            <a:avLst/>
          </a:prstGeom>
          <a:noFill/>
          <a:ln>
            <a:noFill/>
          </a:ln>
        </p:spPr>
        <p:txBody>
          <a:bodyPr anchorCtr="0" anchor="ctr" bIns="45700" lIns="91425" spcFirstLastPara="1" rIns="91425" wrap="square" tIns="45700">
            <a:noAutofit/>
          </a:bodyPr>
          <a:lstStyle/>
          <a:p>
            <a:pPr indent="-304800" lvl="0" marL="457200" marR="0" rtl="0" algn="l">
              <a:spcBef>
                <a:spcPts val="500"/>
              </a:spcBef>
              <a:spcAft>
                <a:spcPts val="0"/>
              </a:spcAft>
              <a:buClr>
                <a:srgbClr val="C0C8DC"/>
              </a:buClr>
              <a:buSzPts val="1200"/>
              <a:buFont typeface="Calibri"/>
              <a:buChar char="●"/>
            </a:pPr>
            <a:r>
              <a:rPr lang="en-US" sz="1200">
                <a:solidFill>
                  <a:srgbClr val="C0C8DC"/>
                </a:solidFill>
                <a:latin typeface="Calibri"/>
                <a:ea typeface="Calibri"/>
                <a:cs typeface="Calibri"/>
                <a:sym typeface="Calibri"/>
              </a:rPr>
              <a:t>Models system using probabilistic relationships (Bayesian structure)</a:t>
            </a:r>
            <a:endParaRPr sz="1200">
              <a:solidFill>
                <a:srgbClr val="C0C8DC"/>
              </a:solidFill>
              <a:latin typeface="Calibri"/>
              <a:ea typeface="Calibri"/>
              <a:cs typeface="Calibri"/>
              <a:sym typeface="Calibri"/>
            </a:endParaRPr>
          </a:p>
          <a:p>
            <a:pPr indent="-304800" lvl="0" marL="457200" marR="0" rtl="0" algn="l">
              <a:spcBef>
                <a:spcPts val="0"/>
              </a:spcBef>
              <a:spcAft>
                <a:spcPts val="0"/>
              </a:spcAft>
              <a:buClr>
                <a:srgbClr val="C0C8DC"/>
              </a:buClr>
              <a:buSzPts val="1200"/>
              <a:buFont typeface="Calibri"/>
              <a:buChar char="●"/>
            </a:pPr>
            <a:r>
              <a:rPr lang="en-US" sz="1200">
                <a:solidFill>
                  <a:srgbClr val="C0C8DC"/>
                </a:solidFill>
                <a:latin typeface="Calibri"/>
                <a:ea typeface="Calibri"/>
                <a:cs typeface="Calibri"/>
                <a:sym typeface="Calibri"/>
              </a:rPr>
              <a:t>Represents decisions, uncertainties, and outcomes together</a:t>
            </a:r>
            <a:endParaRPr sz="1200">
              <a:solidFill>
                <a:srgbClr val="C0C8DC"/>
              </a:solidFill>
              <a:latin typeface="Calibri"/>
              <a:ea typeface="Calibri"/>
              <a:cs typeface="Calibri"/>
              <a:sym typeface="Calibri"/>
            </a:endParaRPr>
          </a:p>
          <a:p>
            <a:pPr indent="-304800" lvl="0" marL="457200" marR="0" rtl="0" algn="l">
              <a:spcBef>
                <a:spcPts val="0"/>
              </a:spcBef>
              <a:spcAft>
                <a:spcPts val="0"/>
              </a:spcAft>
              <a:buClr>
                <a:srgbClr val="C0C8DC"/>
              </a:buClr>
              <a:buSzPts val="1200"/>
              <a:buFont typeface="Calibri"/>
              <a:buChar char="●"/>
            </a:pPr>
            <a:r>
              <a:rPr lang="en-US" sz="1200">
                <a:solidFill>
                  <a:srgbClr val="C0C8DC"/>
                </a:solidFill>
                <a:latin typeface="Calibri"/>
                <a:ea typeface="Calibri"/>
                <a:cs typeface="Calibri"/>
                <a:sym typeface="Calibri"/>
              </a:rPr>
              <a:t>Predicts future system states over time (time-sliced model)</a:t>
            </a:r>
            <a:endParaRPr sz="1200">
              <a:solidFill>
                <a:srgbClr val="C0C8DC"/>
              </a:solidFill>
              <a:latin typeface="Calibri"/>
              <a:ea typeface="Calibri"/>
              <a:cs typeface="Calibri"/>
              <a:sym typeface="Calibri"/>
            </a:endParaRPr>
          </a:p>
          <a:p>
            <a:pPr indent="-304800" lvl="0" marL="457200" marR="0" rtl="0" algn="l">
              <a:spcBef>
                <a:spcPts val="0"/>
              </a:spcBef>
              <a:spcAft>
                <a:spcPts val="0"/>
              </a:spcAft>
              <a:buClr>
                <a:srgbClr val="C0C8DC"/>
              </a:buClr>
              <a:buSzPts val="1200"/>
              <a:buFont typeface="Calibri"/>
              <a:buChar char="●"/>
            </a:pPr>
            <a:r>
              <a:rPr lang="en-US" sz="1200">
                <a:solidFill>
                  <a:srgbClr val="C0C8DC"/>
                </a:solidFill>
                <a:latin typeface="Calibri"/>
                <a:ea typeface="Calibri"/>
                <a:cs typeface="Calibri"/>
                <a:sym typeface="Calibri"/>
              </a:rPr>
              <a:t>Detects faults using conflict analysis</a:t>
            </a:r>
            <a:endParaRPr sz="1200">
              <a:solidFill>
                <a:srgbClr val="C0C8DC"/>
              </a:solidFill>
              <a:latin typeface="Calibri"/>
              <a:ea typeface="Calibri"/>
              <a:cs typeface="Calibri"/>
              <a:sym typeface="Calibri"/>
            </a:endParaRPr>
          </a:p>
          <a:p>
            <a:pPr indent="-304800" lvl="0" marL="457200" marR="0" rtl="0" algn="l">
              <a:spcBef>
                <a:spcPts val="0"/>
              </a:spcBef>
              <a:spcAft>
                <a:spcPts val="0"/>
              </a:spcAft>
              <a:buClr>
                <a:srgbClr val="C0C8DC"/>
              </a:buClr>
              <a:buSzPts val="1200"/>
              <a:buFont typeface="Calibri"/>
              <a:buChar char="●"/>
            </a:pPr>
            <a:r>
              <a:rPr lang="en-US" sz="1200">
                <a:solidFill>
                  <a:srgbClr val="C0C8DC"/>
                </a:solidFill>
                <a:latin typeface="Calibri"/>
                <a:ea typeface="Calibri"/>
                <a:cs typeface="Calibri"/>
                <a:sym typeface="Calibri"/>
              </a:rPr>
              <a:t>Computes best action using expected utility</a:t>
            </a:r>
            <a:endParaRPr sz="1200">
              <a:solidFill>
                <a:srgbClr val="C0C8DC"/>
              </a:solidFill>
              <a:latin typeface="Calibri"/>
              <a:ea typeface="Calibri"/>
              <a:cs typeface="Calibri"/>
              <a:sym typeface="Calibri"/>
            </a:endParaRPr>
          </a:p>
        </p:txBody>
      </p:sp>
      <p:sp>
        <p:nvSpPr>
          <p:cNvPr id="145" name="Google Shape;145;g3de12cea442_4_0"/>
          <p:cNvSpPr/>
          <p:nvPr/>
        </p:nvSpPr>
        <p:spPr>
          <a:xfrm>
            <a:off x="4672629" y="1213450"/>
            <a:ext cx="3959700" cy="3291900"/>
          </a:xfrm>
          <a:prstGeom prst="rect">
            <a:avLst/>
          </a:prstGeom>
          <a:solidFill>
            <a:srgbClr val="0F1628"/>
          </a:solidFill>
          <a:ln cap="flat" cmpd="sng" w="12700">
            <a:solidFill>
              <a:schemeClr val="accent2"/>
            </a:solidFill>
            <a:prstDash val="solid"/>
            <a:round/>
            <a:headEnd len="sm" w="sm" type="none"/>
            <a:tailEnd len="sm" w="sm" type="none"/>
          </a:ln>
          <a:effectLst>
            <a:outerShdw blurRad="127000" rotWithShape="0" algn="bl" dir="8100000" dist="38100">
              <a:srgbClr val="000000">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3de12cea442_4_0"/>
          <p:cNvSpPr/>
          <p:nvPr/>
        </p:nvSpPr>
        <p:spPr>
          <a:xfrm>
            <a:off x="4846325" y="1505950"/>
            <a:ext cx="30027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Calibri"/>
              <a:buNone/>
            </a:pPr>
            <a:r>
              <a:rPr b="1" lang="en-US">
                <a:solidFill>
                  <a:srgbClr val="FFFFFF"/>
                </a:solidFill>
                <a:latin typeface="Calibri"/>
                <a:ea typeface="Calibri"/>
                <a:cs typeface="Calibri"/>
                <a:sym typeface="Calibri"/>
              </a:rPr>
              <a:t>Reinforcement Learning (RL)</a:t>
            </a:r>
            <a:endParaRPr b="0" i="0" sz="1400" u="none" cap="none" strike="noStrike">
              <a:solidFill>
                <a:schemeClr val="dk1"/>
              </a:solidFill>
              <a:latin typeface="Calibri"/>
              <a:ea typeface="Calibri"/>
              <a:cs typeface="Calibri"/>
              <a:sym typeface="Calibri"/>
            </a:endParaRPr>
          </a:p>
        </p:txBody>
      </p:sp>
      <p:sp>
        <p:nvSpPr>
          <p:cNvPr id="147" name="Google Shape;147;g3de12cea442_4_0"/>
          <p:cNvSpPr/>
          <p:nvPr/>
        </p:nvSpPr>
        <p:spPr>
          <a:xfrm>
            <a:off x="4846325" y="1880950"/>
            <a:ext cx="3502800" cy="1956900"/>
          </a:xfrm>
          <a:prstGeom prst="rect">
            <a:avLst/>
          </a:prstGeom>
          <a:noFill/>
          <a:ln>
            <a:noFill/>
          </a:ln>
        </p:spPr>
        <p:txBody>
          <a:bodyPr anchorCtr="0" anchor="ctr" bIns="45700" lIns="91425" spcFirstLastPara="1" rIns="91425" wrap="square" tIns="45700">
            <a:noAutofit/>
          </a:bodyPr>
          <a:lstStyle/>
          <a:p>
            <a:pPr indent="0" lvl="0" marL="0" rtl="0" algn="l">
              <a:spcBef>
                <a:spcPts val="500"/>
              </a:spcBef>
              <a:spcAft>
                <a:spcPts val="0"/>
              </a:spcAft>
              <a:buClr>
                <a:schemeClr val="dk1"/>
              </a:buClr>
              <a:buSzPts val="1100"/>
              <a:buFont typeface="Arial"/>
              <a:buNone/>
            </a:pPr>
            <a:r>
              <a:rPr lang="en-US" sz="1200">
                <a:solidFill>
                  <a:srgbClr val="C0C8DC"/>
                </a:solidFill>
                <a:latin typeface="Calibri"/>
                <a:ea typeface="Calibri"/>
                <a:cs typeface="Calibri"/>
                <a:sym typeface="Calibri"/>
              </a:rPr>
              <a:t>Learns optimal decision policies through interaction</a:t>
            </a:r>
            <a:endParaRPr sz="1200">
              <a:solidFill>
                <a:srgbClr val="C0C8DC"/>
              </a:solidFill>
              <a:latin typeface="Calibri"/>
              <a:ea typeface="Calibri"/>
              <a:cs typeface="Calibri"/>
              <a:sym typeface="Calibri"/>
            </a:endParaRPr>
          </a:p>
          <a:p>
            <a:pPr indent="-304800" lvl="0" marL="457200" rtl="0" algn="l">
              <a:spcBef>
                <a:spcPts val="500"/>
              </a:spcBef>
              <a:spcAft>
                <a:spcPts val="0"/>
              </a:spcAft>
              <a:buClr>
                <a:srgbClr val="C0C8DC"/>
              </a:buClr>
              <a:buSzPts val="1200"/>
              <a:buFont typeface="Calibri"/>
              <a:buChar char="●"/>
            </a:pPr>
            <a:r>
              <a:rPr lang="en-US" sz="1200">
                <a:solidFill>
                  <a:srgbClr val="C0C8DC"/>
                </a:solidFill>
                <a:latin typeface="Calibri"/>
                <a:ea typeface="Calibri"/>
                <a:cs typeface="Calibri"/>
                <a:sym typeface="Calibri"/>
              </a:rPr>
              <a:t>Maximizes long-term reward using feedback</a:t>
            </a:r>
            <a:endParaRPr sz="1200">
              <a:solidFill>
                <a:srgbClr val="C0C8DC"/>
              </a:solidFill>
              <a:latin typeface="Calibri"/>
              <a:ea typeface="Calibri"/>
              <a:cs typeface="Calibri"/>
              <a:sym typeface="Calibri"/>
            </a:endParaRPr>
          </a:p>
          <a:p>
            <a:pPr indent="-304800" lvl="0" marL="457200" rtl="0" algn="l">
              <a:spcBef>
                <a:spcPts val="0"/>
              </a:spcBef>
              <a:spcAft>
                <a:spcPts val="0"/>
              </a:spcAft>
              <a:buClr>
                <a:srgbClr val="C0C8DC"/>
              </a:buClr>
              <a:buSzPts val="1200"/>
              <a:buFont typeface="Calibri"/>
              <a:buChar char="●"/>
            </a:pPr>
            <a:r>
              <a:rPr lang="en-US" sz="1200">
                <a:solidFill>
                  <a:srgbClr val="C0C8DC"/>
                </a:solidFill>
                <a:latin typeface="Calibri"/>
                <a:ea typeface="Calibri"/>
                <a:cs typeface="Calibri"/>
                <a:sym typeface="Calibri"/>
              </a:rPr>
              <a:t>Improves decision accuracy over time</a:t>
            </a:r>
            <a:endParaRPr sz="1200">
              <a:solidFill>
                <a:srgbClr val="C0C8DC"/>
              </a:solidFill>
              <a:latin typeface="Calibri"/>
              <a:ea typeface="Calibri"/>
              <a:cs typeface="Calibri"/>
              <a:sym typeface="Calibri"/>
            </a:endParaRPr>
          </a:p>
          <a:p>
            <a:pPr indent="-304800" lvl="0" marL="457200" rtl="0" algn="l">
              <a:spcBef>
                <a:spcPts val="0"/>
              </a:spcBef>
              <a:spcAft>
                <a:spcPts val="0"/>
              </a:spcAft>
              <a:buClr>
                <a:srgbClr val="C0C8DC"/>
              </a:buClr>
              <a:buSzPts val="1200"/>
              <a:buFont typeface="Calibri"/>
              <a:buChar char="●"/>
            </a:pPr>
            <a:r>
              <a:rPr lang="en-US" sz="1200">
                <a:solidFill>
                  <a:srgbClr val="C0C8DC"/>
                </a:solidFill>
                <a:latin typeface="Calibri"/>
                <a:ea typeface="Calibri"/>
                <a:cs typeface="Calibri"/>
                <a:sym typeface="Calibri"/>
              </a:rPr>
              <a:t>Adapts to dynamic and uncertain environments</a:t>
            </a:r>
            <a:endParaRPr sz="1200">
              <a:solidFill>
                <a:srgbClr val="C0C8DC"/>
              </a:solidFill>
              <a:latin typeface="Calibri"/>
              <a:ea typeface="Calibri"/>
              <a:cs typeface="Calibri"/>
              <a:sym typeface="Calibri"/>
            </a:endParaRPr>
          </a:p>
          <a:p>
            <a:pPr indent="-304800" lvl="0" marL="457200" rtl="0" algn="l">
              <a:spcBef>
                <a:spcPts val="0"/>
              </a:spcBef>
              <a:spcAft>
                <a:spcPts val="0"/>
              </a:spcAft>
              <a:buClr>
                <a:srgbClr val="C0C8DC"/>
              </a:buClr>
              <a:buSzPts val="1200"/>
              <a:buFont typeface="Calibri"/>
              <a:buChar char="●"/>
            </a:pPr>
            <a:r>
              <a:rPr lang="en-US" sz="1200">
                <a:solidFill>
                  <a:srgbClr val="C0C8DC"/>
                </a:solidFill>
                <a:latin typeface="Calibri"/>
                <a:ea typeface="Calibri"/>
                <a:cs typeface="Calibri"/>
                <a:sym typeface="Calibri"/>
              </a:rPr>
              <a:t>Refines recommendations from the probabilistic model</a:t>
            </a:r>
            <a:endParaRPr sz="1200">
              <a:solidFill>
                <a:schemeClr val="dk1"/>
              </a:solidFill>
              <a:latin typeface="Calibri"/>
              <a:ea typeface="Calibri"/>
              <a:cs typeface="Calibri"/>
              <a:sym typeface="Calibri"/>
            </a:endParaRPr>
          </a:p>
        </p:txBody>
      </p:sp>
      <p:pic>
        <p:nvPicPr>
          <p:cNvPr id="148" name="Google Shape;148;g3de12cea442_4_0"/>
          <p:cNvPicPr preferRelativeResize="0"/>
          <p:nvPr/>
        </p:nvPicPr>
        <p:blipFill>
          <a:blip r:embed="rId3">
            <a:alphaModFix/>
          </a:blip>
          <a:stretch>
            <a:fillRect/>
          </a:stretch>
        </p:blipFill>
        <p:spPr>
          <a:xfrm>
            <a:off x="0" y="1993"/>
            <a:ext cx="9144001" cy="513951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C18"/>
        </a:solidFill>
      </p:bgPr>
    </p:bg>
    <p:spTree>
      <p:nvGrpSpPr>
        <p:cNvPr id="153" name="Shape 153"/>
        <p:cNvGrpSpPr/>
        <p:nvPr/>
      </p:nvGrpSpPr>
      <p:grpSpPr>
        <a:xfrm>
          <a:off x="0" y="0"/>
          <a:ext cx="0" cy="0"/>
          <a:chOff x="0" y="0"/>
          <a:chExt cx="0" cy="0"/>
        </a:xfrm>
      </p:grpSpPr>
      <p:sp>
        <p:nvSpPr>
          <p:cNvPr id="154" name="Google Shape;154;p5"/>
          <p:cNvSpPr/>
          <p:nvPr/>
        </p:nvSpPr>
        <p:spPr>
          <a:xfrm>
            <a:off x="365760" y="109728"/>
            <a:ext cx="1737300" cy="219600"/>
          </a:xfrm>
          <a:prstGeom prst="roundRect">
            <a:avLst>
              <a:gd fmla="val 16667" name="adj"/>
            </a:avLst>
          </a:prstGeom>
          <a:solidFill>
            <a:srgbClr val="FF4D6D">
              <a:alpha val="18040"/>
            </a:srgbClr>
          </a:solidFill>
          <a:ln cap="flat" cmpd="sng" w="15225">
            <a:solidFill>
              <a:srgbClr val="FF4D6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a:off x="365760" y="109728"/>
            <a:ext cx="17373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4D6D"/>
              </a:buClr>
              <a:buSzPts val="850"/>
              <a:buFont typeface="Calibri"/>
              <a:buNone/>
            </a:pPr>
            <a:r>
              <a:rPr b="1" i="0" lang="en-US" sz="850" u="none" cap="none" strike="noStrike">
                <a:solidFill>
                  <a:srgbClr val="FF4D6D"/>
                </a:solidFill>
                <a:latin typeface="Calibri"/>
                <a:ea typeface="Calibri"/>
                <a:cs typeface="Calibri"/>
                <a:sym typeface="Calibri"/>
              </a:rPr>
              <a:t>DEMO SCENARIO</a:t>
            </a:r>
            <a:endParaRPr b="0" i="0" sz="850" u="none" cap="none" strike="noStrike">
              <a:solidFill>
                <a:schemeClr val="dk1"/>
              </a:solidFill>
              <a:latin typeface="Calibri"/>
              <a:ea typeface="Calibri"/>
              <a:cs typeface="Calibri"/>
              <a:sym typeface="Calibri"/>
            </a:endParaRPr>
          </a:p>
        </p:txBody>
      </p:sp>
      <p:sp>
        <p:nvSpPr>
          <p:cNvPr id="156" name="Google Shape;156;p5"/>
          <p:cNvSpPr/>
          <p:nvPr/>
        </p:nvSpPr>
        <p:spPr>
          <a:xfrm>
            <a:off x="365760" y="402336"/>
            <a:ext cx="84126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00"/>
              <a:buFont typeface="Calibri"/>
              <a:buNone/>
            </a:pPr>
            <a:r>
              <a:rPr b="1" lang="en-US" sz="3000">
                <a:solidFill>
                  <a:srgbClr val="FFFFFF"/>
                </a:solidFill>
                <a:latin typeface="Calibri"/>
                <a:ea typeface="Calibri"/>
                <a:cs typeface="Calibri"/>
                <a:sym typeface="Calibri"/>
              </a:rPr>
              <a:t>Tube Rupture</a:t>
            </a:r>
            <a:endParaRPr b="0" i="0" sz="3000" u="none" cap="none" strike="noStrike">
              <a:solidFill>
                <a:schemeClr val="dk1"/>
              </a:solidFill>
              <a:latin typeface="Calibri"/>
              <a:ea typeface="Calibri"/>
              <a:cs typeface="Calibri"/>
              <a:sym typeface="Calibri"/>
            </a:endParaRPr>
          </a:p>
        </p:txBody>
      </p:sp>
      <p:sp>
        <p:nvSpPr>
          <p:cNvPr id="157" name="Google Shape;157;p5"/>
          <p:cNvSpPr/>
          <p:nvPr/>
        </p:nvSpPr>
        <p:spPr>
          <a:xfrm>
            <a:off x="320040" y="1115568"/>
            <a:ext cx="8485500" cy="667500"/>
          </a:xfrm>
          <a:prstGeom prst="rect">
            <a:avLst/>
          </a:prstGeom>
          <a:solidFill>
            <a:srgbClr val="0F1628"/>
          </a:solidFill>
          <a:ln cap="flat" cmpd="sng" w="12700">
            <a:solidFill>
              <a:srgbClr val="00C8FF"/>
            </a:solidFill>
            <a:prstDash val="solid"/>
            <a:round/>
            <a:headEnd len="sm" w="sm" type="none"/>
            <a:tailEnd len="sm" w="sm" type="none"/>
          </a:ln>
          <a:effectLst>
            <a:outerShdw blurRad="127000" rotWithShape="0" algn="bl" dir="8100000" dist="38100">
              <a:srgbClr val="000000">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
          <p:cNvSpPr/>
          <p:nvPr/>
        </p:nvSpPr>
        <p:spPr>
          <a:xfrm>
            <a:off x="320040" y="1115568"/>
            <a:ext cx="50400" cy="667500"/>
          </a:xfrm>
          <a:prstGeom prst="rect">
            <a:avLst/>
          </a:prstGeom>
          <a:solidFill>
            <a:srgbClr val="00C8FF"/>
          </a:solidFill>
          <a:ln cap="flat" cmpd="sng" w="12700">
            <a:solidFill>
              <a:srgbClr val="00C8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457200" y="1152144"/>
            <a:ext cx="502800" cy="219600"/>
          </a:xfrm>
          <a:prstGeom prst="roundRect">
            <a:avLst>
              <a:gd fmla="val 16667" name="adj"/>
            </a:avLst>
          </a:prstGeom>
          <a:solidFill>
            <a:srgbClr val="00C8FF">
              <a:alpha val="21960"/>
            </a:srgbClr>
          </a:solidFill>
          <a:ln cap="flat" cmpd="sng" w="15225">
            <a:solidFill>
              <a:srgbClr val="00C8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p:nvPr/>
        </p:nvSpPr>
        <p:spPr>
          <a:xfrm>
            <a:off x="457200" y="1152144"/>
            <a:ext cx="5028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C8FF"/>
              </a:buClr>
              <a:buSzPts val="900"/>
              <a:buFont typeface="Calibri"/>
              <a:buNone/>
            </a:pPr>
            <a:r>
              <a:rPr b="1" i="0" lang="en-US" sz="900" u="none" cap="none" strike="noStrike">
                <a:solidFill>
                  <a:srgbClr val="00C8FF"/>
                </a:solidFill>
                <a:latin typeface="Calibri"/>
                <a:ea typeface="Calibri"/>
                <a:cs typeface="Calibri"/>
                <a:sym typeface="Calibri"/>
              </a:rPr>
              <a:t>S1</a:t>
            </a:r>
            <a:endParaRPr b="0" i="0" sz="900" u="none" cap="none" strike="noStrike">
              <a:solidFill>
                <a:schemeClr val="dk1"/>
              </a:solidFill>
              <a:latin typeface="Calibri"/>
              <a:ea typeface="Calibri"/>
              <a:cs typeface="Calibri"/>
              <a:sym typeface="Calibri"/>
            </a:endParaRPr>
          </a:p>
        </p:txBody>
      </p:sp>
      <p:sp>
        <p:nvSpPr>
          <p:cNvPr id="161" name="Google Shape;161;p5"/>
          <p:cNvSpPr/>
          <p:nvPr/>
        </p:nvSpPr>
        <p:spPr>
          <a:xfrm>
            <a:off x="1051560" y="1170432"/>
            <a:ext cx="2834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Digital Twin detects fault</a:t>
            </a:r>
            <a:endParaRPr b="0" i="0" sz="1250" u="none" cap="none" strike="noStrike">
              <a:solidFill>
                <a:schemeClr val="dk1"/>
              </a:solidFill>
              <a:latin typeface="Calibri"/>
              <a:ea typeface="Calibri"/>
              <a:cs typeface="Calibri"/>
              <a:sym typeface="Calibri"/>
            </a:endParaRPr>
          </a:p>
        </p:txBody>
      </p:sp>
      <p:sp>
        <p:nvSpPr>
          <p:cNvPr id="162" name="Google Shape;162;p5"/>
          <p:cNvSpPr/>
          <p:nvPr/>
        </p:nvSpPr>
        <p:spPr>
          <a:xfrm>
            <a:off x="3977640" y="1207008"/>
            <a:ext cx="27300" cy="475500"/>
          </a:xfrm>
          <a:prstGeom prst="rect">
            <a:avLst/>
          </a:prstGeom>
          <a:solidFill>
            <a:srgbClr val="00C8FF">
              <a:alpha val="40000"/>
            </a:srgbClr>
          </a:solidFill>
          <a:ln cap="flat" cmpd="sng" w="12700">
            <a:solidFill>
              <a:srgbClr val="00C8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4114800" y="1170432"/>
            <a:ext cx="45720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C8DC"/>
              </a:buClr>
              <a:buSzPts val="1150"/>
              <a:buFont typeface="Calibri"/>
              <a:buNone/>
            </a:pPr>
            <a:r>
              <a:rPr lang="en-US" sz="1150">
                <a:solidFill>
                  <a:srgbClr val="C0C8DC"/>
                </a:solidFill>
                <a:latin typeface="Calibri"/>
                <a:ea typeface="Calibri"/>
                <a:cs typeface="Calibri"/>
                <a:sym typeface="Calibri"/>
              </a:rPr>
              <a:t>Steam generator level rising • Pressure imbalance detected • Possible tube leak</a:t>
            </a:r>
            <a:endParaRPr b="0" i="0" sz="1150" u="none" cap="none" strike="noStrike">
              <a:solidFill>
                <a:schemeClr val="dk1"/>
              </a:solidFill>
              <a:latin typeface="Calibri"/>
              <a:ea typeface="Calibri"/>
              <a:cs typeface="Calibri"/>
              <a:sym typeface="Calibri"/>
            </a:endParaRPr>
          </a:p>
        </p:txBody>
      </p:sp>
      <p:sp>
        <p:nvSpPr>
          <p:cNvPr id="164" name="Google Shape;164;p5"/>
          <p:cNvSpPr/>
          <p:nvPr/>
        </p:nvSpPr>
        <p:spPr>
          <a:xfrm>
            <a:off x="320040" y="1842516"/>
            <a:ext cx="8485500" cy="667500"/>
          </a:xfrm>
          <a:prstGeom prst="rect">
            <a:avLst/>
          </a:prstGeom>
          <a:solidFill>
            <a:srgbClr val="0F1628"/>
          </a:solidFill>
          <a:ln cap="flat" cmpd="sng" w="12700">
            <a:solidFill>
              <a:srgbClr val="FFB347"/>
            </a:solidFill>
            <a:prstDash val="solid"/>
            <a:round/>
            <a:headEnd len="sm" w="sm" type="none"/>
            <a:tailEnd len="sm" w="sm" type="none"/>
          </a:ln>
          <a:effectLst>
            <a:outerShdw blurRad="127000" rotWithShape="0" algn="bl" dir="8100000" dist="38100">
              <a:srgbClr val="000000">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p:nvPr/>
        </p:nvSpPr>
        <p:spPr>
          <a:xfrm>
            <a:off x="320040" y="1842516"/>
            <a:ext cx="50400" cy="667500"/>
          </a:xfrm>
          <a:prstGeom prst="rect">
            <a:avLst/>
          </a:prstGeom>
          <a:solidFill>
            <a:srgbClr val="FFB347"/>
          </a:solidFill>
          <a:ln cap="flat" cmpd="sng" w="12700">
            <a:solidFill>
              <a:srgbClr val="FFB3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p:nvPr/>
        </p:nvSpPr>
        <p:spPr>
          <a:xfrm>
            <a:off x="457200" y="1879092"/>
            <a:ext cx="502800" cy="219600"/>
          </a:xfrm>
          <a:prstGeom prst="roundRect">
            <a:avLst>
              <a:gd fmla="val 16667" name="adj"/>
            </a:avLst>
          </a:prstGeom>
          <a:solidFill>
            <a:srgbClr val="FFB347">
              <a:alpha val="21960"/>
            </a:srgbClr>
          </a:solidFill>
          <a:ln cap="flat" cmpd="sng" w="15225">
            <a:solidFill>
              <a:srgbClr val="FFB3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p:nvPr/>
        </p:nvSpPr>
        <p:spPr>
          <a:xfrm>
            <a:off x="457200" y="1879092"/>
            <a:ext cx="5028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B347"/>
              </a:buClr>
              <a:buSzPts val="900"/>
              <a:buFont typeface="Calibri"/>
              <a:buNone/>
            </a:pPr>
            <a:r>
              <a:rPr b="1" i="0" lang="en-US" sz="900" u="none" cap="none" strike="noStrike">
                <a:solidFill>
                  <a:srgbClr val="FFB347"/>
                </a:solidFill>
                <a:latin typeface="Calibri"/>
                <a:ea typeface="Calibri"/>
                <a:cs typeface="Calibri"/>
                <a:sym typeface="Calibri"/>
              </a:rPr>
              <a:t>S2</a:t>
            </a:r>
            <a:endParaRPr b="0" i="0" sz="900" u="none" cap="none" strike="noStrike">
              <a:solidFill>
                <a:schemeClr val="dk1"/>
              </a:solidFill>
              <a:latin typeface="Calibri"/>
              <a:ea typeface="Calibri"/>
              <a:cs typeface="Calibri"/>
              <a:sym typeface="Calibri"/>
            </a:endParaRPr>
          </a:p>
        </p:txBody>
      </p:sp>
      <p:sp>
        <p:nvSpPr>
          <p:cNvPr id="168" name="Google Shape;168;p5"/>
          <p:cNvSpPr/>
          <p:nvPr/>
        </p:nvSpPr>
        <p:spPr>
          <a:xfrm>
            <a:off x="1051550" y="1897373"/>
            <a:ext cx="2834700" cy="436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Calibri"/>
              <a:buNone/>
            </a:pPr>
            <a:r>
              <a:rPr b="1" lang="en-US" sz="1250">
                <a:solidFill>
                  <a:srgbClr val="FFFFFF"/>
                </a:solidFill>
                <a:latin typeface="Calibri"/>
                <a:ea typeface="Calibri"/>
                <a:cs typeface="Calibri"/>
                <a:sym typeface="Calibri"/>
              </a:rPr>
              <a:t>Human monitoring flags: operator overload</a:t>
            </a:r>
            <a:endParaRPr b="0" i="0" sz="1250" u="none" cap="none" strike="noStrike">
              <a:solidFill>
                <a:schemeClr val="dk1"/>
              </a:solidFill>
              <a:latin typeface="Calibri"/>
              <a:ea typeface="Calibri"/>
              <a:cs typeface="Calibri"/>
              <a:sym typeface="Calibri"/>
            </a:endParaRPr>
          </a:p>
        </p:txBody>
      </p:sp>
      <p:sp>
        <p:nvSpPr>
          <p:cNvPr id="169" name="Google Shape;169;p5"/>
          <p:cNvSpPr/>
          <p:nvPr/>
        </p:nvSpPr>
        <p:spPr>
          <a:xfrm>
            <a:off x="3977640" y="1933956"/>
            <a:ext cx="27300" cy="475500"/>
          </a:xfrm>
          <a:prstGeom prst="rect">
            <a:avLst/>
          </a:prstGeom>
          <a:solidFill>
            <a:srgbClr val="FFB347">
              <a:alpha val="40000"/>
            </a:srgbClr>
          </a:solidFill>
          <a:ln cap="flat" cmpd="sng" w="12700">
            <a:solidFill>
              <a:srgbClr val="FFB3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
          <p:cNvSpPr/>
          <p:nvPr/>
        </p:nvSpPr>
        <p:spPr>
          <a:xfrm>
            <a:off x="4114800" y="1897380"/>
            <a:ext cx="45720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C8DC"/>
              </a:buClr>
              <a:buSzPts val="1150"/>
              <a:buFont typeface="Calibri"/>
              <a:buNone/>
            </a:pPr>
            <a:r>
              <a:rPr lang="en-US" sz="1150">
                <a:solidFill>
                  <a:srgbClr val="C0C8DC"/>
                </a:solidFill>
                <a:latin typeface="Calibri"/>
                <a:ea typeface="Calibri"/>
                <a:cs typeface="Calibri"/>
                <a:sym typeface="Calibri"/>
              </a:rPr>
              <a:t>High alarm load • Delayed response • Fixated on wrong panel → Workload: HIGH</a:t>
            </a:r>
            <a:endParaRPr b="0" i="0" sz="1150" u="none" cap="none" strike="noStrike">
              <a:solidFill>
                <a:schemeClr val="dk1"/>
              </a:solidFill>
              <a:latin typeface="Calibri"/>
              <a:ea typeface="Calibri"/>
              <a:cs typeface="Calibri"/>
              <a:sym typeface="Calibri"/>
            </a:endParaRPr>
          </a:p>
        </p:txBody>
      </p:sp>
      <p:sp>
        <p:nvSpPr>
          <p:cNvPr id="171" name="Google Shape;171;p5"/>
          <p:cNvSpPr/>
          <p:nvPr/>
        </p:nvSpPr>
        <p:spPr>
          <a:xfrm>
            <a:off x="320040" y="2569464"/>
            <a:ext cx="8485500" cy="667500"/>
          </a:xfrm>
          <a:prstGeom prst="rect">
            <a:avLst/>
          </a:prstGeom>
          <a:solidFill>
            <a:srgbClr val="0F1628"/>
          </a:solidFill>
          <a:ln cap="flat" cmpd="sng" w="12700">
            <a:solidFill>
              <a:srgbClr val="C77DFF"/>
            </a:solidFill>
            <a:prstDash val="solid"/>
            <a:round/>
            <a:headEnd len="sm" w="sm" type="none"/>
            <a:tailEnd len="sm" w="sm" type="none"/>
          </a:ln>
          <a:effectLst>
            <a:outerShdw blurRad="127000" rotWithShape="0" algn="bl" dir="8100000" dist="38100">
              <a:srgbClr val="000000">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5"/>
          <p:cNvSpPr/>
          <p:nvPr/>
        </p:nvSpPr>
        <p:spPr>
          <a:xfrm>
            <a:off x="320040" y="2569464"/>
            <a:ext cx="50400" cy="667500"/>
          </a:xfrm>
          <a:prstGeom prst="rect">
            <a:avLst/>
          </a:prstGeom>
          <a:solidFill>
            <a:srgbClr val="C77DFF"/>
          </a:solidFill>
          <a:ln cap="flat" cmpd="sng" w="12700">
            <a:solidFill>
              <a:srgbClr val="C77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5"/>
          <p:cNvSpPr/>
          <p:nvPr/>
        </p:nvSpPr>
        <p:spPr>
          <a:xfrm>
            <a:off x="457200" y="2606040"/>
            <a:ext cx="502800" cy="219600"/>
          </a:xfrm>
          <a:prstGeom prst="roundRect">
            <a:avLst>
              <a:gd fmla="val 16667" name="adj"/>
            </a:avLst>
          </a:prstGeom>
          <a:solidFill>
            <a:srgbClr val="C77DFF">
              <a:alpha val="21960"/>
            </a:srgbClr>
          </a:solidFill>
          <a:ln cap="flat" cmpd="sng" w="15225">
            <a:solidFill>
              <a:srgbClr val="C77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5"/>
          <p:cNvSpPr/>
          <p:nvPr/>
        </p:nvSpPr>
        <p:spPr>
          <a:xfrm>
            <a:off x="457200" y="2606040"/>
            <a:ext cx="5028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7DFF"/>
              </a:buClr>
              <a:buSzPts val="900"/>
              <a:buFont typeface="Calibri"/>
              <a:buNone/>
            </a:pPr>
            <a:r>
              <a:rPr b="1" i="0" lang="en-US" sz="900" u="none" cap="none" strike="noStrike">
                <a:solidFill>
                  <a:srgbClr val="C77DFF"/>
                </a:solidFill>
                <a:latin typeface="Calibri"/>
                <a:ea typeface="Calibri"/>
                <a:cs typeface="Calibri"/>
                <a:sym typeface="Calibri"/>
              </a:rPr>
              <a:t>S3</a:t>
            </a:r>
            <a:endParaRPr b="0" i="0" sz="900" u="none" cap="none" strike="noStrike">
              <a:solidFill>
                <a:schemeClr val="dk1"/>
              </a:solidFill>
              <a:latin typeface="Calibri"/>
              <a:ea typeface="Calibri"/>
              <a:cs typeface="Calibri"/>
              <a:sym typeface="Calibri"/>
            </a:endParaRPr>
          </a:p>
        </p:txBody>
      </p:sp>
      <p:sp>
        <p:nvSpPr>
          <p:cNvPr id="175" name="Google Shape;175;p5"/>
          <p:cNvSpPr/>
          <p:nvPr/>
        </p:nvSpPr>
        <p:spPr>
          <a:xfrm>
            <a:off x="1051560" y="2624328"/>
            <a:ext cx="2834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Situation Assessment</a:t>
            </a:r>
            <a:endParaRPr b="0" i="0" sz="1250" u="none" cap="none" strike="noStrike">
              <a:solidFill>
                <a:schemeClr val="dk1"/>
              </a:solidFill>
              <a:latin typeface="Calibri"/>
              <a:ea typeface="Calibri"/>
              <a:cs typeface="Calibri"/>
              <a:sym typeface="Calibri"/>
            </a:endParaRPr>
          </a:p>
        </p:txBody>
      </p:sp>
      <p:sp>
        <p:nvSpPr>
          <p:cNvPr id="176" name="Google Shape;176;p5"/>
          <p:cNvSpPr/>
          <p:nvPr/>
        </p:nvSpPr>
        <p:spPr>
          <a:xfrm>
            <a:off x="3977640" y="2660904"/>
            <a:ext cx="27300" cy="475500"/>
          </a:xfrm>
          <a:prstGeom prst="rect">
            <a:avLst/>
          </a:prstGeom>
          <a:solidFill>
            <a:srgbClr val="C77DFF">
              <a:alpha val="40000"/>
            </a:srgbClr>
          </a:solidFill>
          <a:ln cap="flat" cmpd="sng" w="12700">
            <a:solidFill>
              <a:srgbClr val="C77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5"/>
          <p:cNvSpPr/>
          <p:nvPr/>
        </p:nvSpPr>
        <p:spPr>
          <a:xfrm>
            <a:off x="4096525" y="2628891"/>
            <a:ext cx="4572000" cy="5487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200"/>
              </a:spcBef>
              <a:spcAft>
                <a:spcPts val="1200"/>
              </a:spcAft>
              <a:buClr>
                <a:schemeClr val="dk1"/>
              </a:buClr>
              <a:buSzPts val="1100"/>
              <a:buFont typeface="Arial"/>
              <a:buNone/>
            </a:pPr>
            <a:r>
              <a:rPr lang="en-US" sz="1150">
                <a:solidFill>
                  <a:srgbClr val="C0C8DC"/>
                </a:solidFill>
                <a:latin typeface="Calibri"/>
                <a:ea typeface="Calibri"/>
                <a:cs typeface="Calibri"/>
                <a:sym typeface="Calibri"/>
              </a:rPr>
              <a:t>Leak indicators + operator overload → Combined risk: HIGH</a:t>
            </a:r>
            <a:endParaRPr sz="1150">
              <a:solidFill>
                <a:srgbClr val="C0C8DC"/>
              </a:solidFill>
              <a:latin typeface="Calibri"/>
              <a:ea typeface="Calibri"/>
              <a:cs typeface="Calibri"/>
              <a:sym typeface="Calibri"/>
            </a:endParaRPr>
          </a:p>
        </p:txBody>
      </p:sp>
      <p:sp>
        <p:nvSpPr>
          <p:cNvPr id="178" name="Google Shape;178;p5"/>
          <p:cNvSpPr/>
          <p:nvPr/>
        </p:nvSpPr>
        <p:spPr>
          <a:xfrm>
            <a:off x="320040" y="3296412"/>
            <a:ext cx="8485500" cy="667500"/>
          </a:xfrm>
          <a:prstGeom prst="rect">
            <a:avLst/>
          </a:prstGeom>
          <a:solidFill>
            <a:srgbClr val="0F1628"/>
          </a:solidFill>
          <a:ln cap="flat" cmpd="sng" w="12700">
            <a:solidFill>
              <a:srgbClr val="7B61FF"/>
            </a:solidFill>
            <a:prstDash val="solid"/>
            <a:round/>
            <a:headEnd len="sm" w="sm" type="none"/>
            <a:tailEnd len="sm" w="sm" type="none"/>
          </a:ln>
          <a:effectLst>
            <a:outerShdw blurRad="127000" rotWithShape="0" algn="bl" dir="8100000" dist="38100">
              <a:srgbClr val="000000">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5"/>
          <p:cNvSpPr/>
          <p:nvPr/>
        </p:nvSpPr>
        <p:spPr>
          <a:xfrm>
            <a:off x="320040" y="3296412"/>
            <a:ext cx="50400" cy="667500"/>
          </a:xfrm>
          <a:prstGeom prst="rect">
            <a:avLst/>
          </a:prstGeom>
          <a:solidFill>
            <a:srgbClr val="7B61FF"/>
          </a:solidFill>
          <a:ln cap="flat" cmpd="sng" w="12700">
            <a:solidFill>
              <a:srgbClr val="7B61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5"/>
          <p:cNvSpPr/>
          <p:nvPr/>
        </p:nvSpPr>
        <p:spPr>
          <a:xfrm>
            <a:off x="457200" y="3332988"/>
            <a:ext cx="502800" cy="219600"/>
          </a:xfrm>
          <a:prstGeom prst="roundRect">
            <a:avLst>
              <a:gd fmla="val 16667" name="adj"/>
            </a:avLst>
          </a:prstGeom>
          <a:solidFill>
            <a:srgbClr val="7B61FF">
              <a:alpha val="21960"/>
            </a:srgbClr>
          </a:solidFill>
          <a:ln cap="flat" cmpd="sng" w="15225">
            <a:solidFill>
              <a:srgbClr val="7B61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5"/>
          <p:cNvSpPr/>
          <p:nvPr/>
        </p:nvSpPr>
        <p:spPr>
          <a:xfrm>
            <a:off x="457200" y="3332988"/>
            <a:ext cx="5028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B61FF"/>
              </a:buClr>
              <a:buSzPts val="900"/>
              <a:buFont typeface="Calibri"/>
              <a:buNone/>
            </a:pPr>
            <a:r>
              <a:rPr b="1" i="0" lang="en-US" sz="900" u="none" cap="none" strike="noStrike">
                <a:solidFill>
                  <a:srgbClr val="7B61FF"/>
                </a:solidFill>
                <a:latin typeface="Calibri"/>
                <a:ea typeface="Calibri"/>
                <a:cs typeface="Calibri"/>
                <a:sym typeface="Calibri"/>
              </a:rPr>
              <a:t>S4</a:t>
            </a:r>
            <a:endParaRPr b="0" i="0" sz="900" u="none" cap="none" strike="noStrike">
              <a:solidFill>
                <a:schemeClr val="dk1"/>
              </a:solidFill>
              <a:latin typeface="Calibri"/>
              <a:ea typeface="Calibri"/>
              <a:cs typeface="Calibri"/>
              <a:sym typeface="Calibri"/>
            </a:endParaRPr>
          </a:p>
        </p:txBody>
      </p:sp>
      <p:sp>
        <p:nvSpPr>
          <p:cNvPr id="182" name="Google Shape;182;p5"/>
          <p:cNvSpPr/>
          <p:nvPr/>
        </p:nvSpPr>
        <p:spPr>
          <a:xfrm>
            <a:off x="1051560" y="3351276"/>
            <a:ext cx="2834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Calibri"/>
              <a:buNone/>
            </a:pPr>
            <a:r>
              <a:rPr b="1" lang="en-US" sz="1250">
                <a:solidFill>
                  <a:srgbClr val="FFFFFF"/>
                </a:solidFill>
                <a:latin typeface="Calibri"/>
                <a:ea typeface="Calibri"/>
                <a:cs typeface="Calibri"/>
                <a:sym typeface="Calibri"/>
              </a:rPr>
              <a:t>Intelligence Decision support </a:t>
            </a:r>
            <a:endParaRPr b="0" i="0" sz="1250" u="none" cap="none" strike="noStrike">
              <a:solidFill>
                <a:schemeClr val="dk1"/>
              </a:solidFill>
              <a:latin typeface="Calibri"/>
              <a:ea typeface="Calibri"/>
              <a:cs typeface="Calibri"/>
              <a:sym typeface="Calibri"/>
            </a:endParaRPr>
          </a:p>
        </p:txBody>
      </p:sp>
      <p:sp>
        <p:nvSpPr>
          <p:cNvPr id="183" name="Google Shape;183;p5"/>
          <p:cNvSpPr/>
          <p:nvPr/>
        </p:nvSpPr>
        <p:spPr>
          <a:xfrm>
            <a:off x="3977640" y="3387852"/>
            <a:ext cx="27300" cy="475500"/>
          </a:xfrm>
          <a:prstGeom prst="rect">
            <a:avLst/>
          </a:prstGeom>
          <a:solidFill>
            <a:srgbClr val="7B61FF">
              <a:alpha val="40000"/>
            </a:srgbClr>
          </a:solidFill>
          <a:ln cap="flat" cmpd="sng" w="12700">
            <a:solidFill>
              <a:srgbClr val="7B61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5"/>
          <p:cNvSpPr/>
          <p:nvPr/>
        </p:nvSpPr>
        <p:spPr>
          <a:xfrm>
            <a:off x="4096525" y="3355839"/>
            <a:ext cx="4572000" cy="5487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50">
                <a:solidFill>
                  <a:srgbClr val="C0C8DC"/>
                </a:solidFill>
                <a:latin typeface="Calibri"/>
                <a:ea typeface="Calibri"/>
                <a:cs typeface="Calibri"/>
                <a:sym typeface="Calibri"/>
              </a:rPr>
              <a:t>Proposed: Isolate steam generator</a:t>
            </a:r>
            <a:endParaRPr sz="1150">
              <a:solidFill>
                <a:srgbClr val="C0C8DC"/>
              </a:solidFill>
              <a:latin typeface="Calibri"/>
              <a:ea typeface="Calibri"/>
              <a:cs typeface="Calibri"/>
              <a:sym typeface="Calibri"/>
            </a:endParaRPr>
          </a:p>
          <a:p>
            <a:pPr indent="0" lvl="0" marL="0" marR="0" rtl="0" algn="l">
              <a:spcBef>
                <a:spcPts val="0"/>
              </a:spcBef>
              <a:spcAft>
                <a:spcPts val="0"/>
              </a:spcAft>
              <a:buClr>
                <a:srgbClr val="C0C8DC"/>
              </a:buClr>
              <a:buSzPts val="1150"/>
              <a:buFont typeface="Calibri"/>
              <a:buNone/>
            </a:pPr>
            <a:r>
              <a:rPr lang="en-US" sz="1150">
                <a:solidFill>
                  <a:srgbClr val="C0C8DC"/>
                </a:solidFill>
                <a:latin typeface="Calibri"/>
                <a:ea typeface="Calibri"/>
                <a:cs typeface="Calibri"/>
                <a:sym typeface="Calibri"/>
              </a:rPr>
              <a:t>BLOCKED — operator not ready + action requires verification</a:t>
            </a:r>
            <a:endParaRPr sz="1150">
              <a:solidFill>
                <a:srgbClr val="C0C8DC"/>
              </a:solidFill>
              <a:latin typeface="Calibri"/>
              <a:ea typeface="Calibri"/>
              <a:cs typeface="Calibri"/>
              <a:sym typeface="Calibri"/>
            </a:endParaRPr>
          </a:p>
        </p:txBody>
      </p:sp>
      <p:sp>
        <p:nvSpPr>
          <p:cNvPr id="185" name="Google Shape;185;p5"/>
          <p:cNvSpPr/>
          <p:nvPr/>
        </p:nvSpPr>
        <p:spPr>
          <a:xfrm>
            <a:off x="320040" y="4023360"/>
            <a:ext cx="8485500" cy="667500"/>
          </a:xfrm>
          <a:prstGeom prst="rect">
            <a:avLst/>
          </a:prstGeom>
          <a:solidFill>
            <a:srgbClr val="0F1628"/>
          </a:solidFill>
          <a:ln cap="flat" cmpd="sng" w="12700">
            <a:solidFill>
              <a:srgbClr val="00B4D8"/>
            </a:solidFill>
            <a:prstDash val="solid"/>
            <a:round/>
            <a:headEnd len="sm" w="sm" type="none"/>
            <a:tailEnd len="sm" w="sm" type="none"/>
          </a:ln>
          <a:effectLst>
            <a:outerShdw blurRad="127000" rotWithShape="0" algn="bl" dir="8100000" dist="38100">
              <a:srgbClr val="000000">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5"/>
          <p:cNvSpPr/>
          <p:nvPr/>
        </p:nvSpPr>
        <p:spPr>
          <a:xfrm>
            <a:off x="320040" y="4023360"/>
            <a:ext cx="50400" cy="667500"/>
          </a:xfrm>
          <a:prstGeom prst="rect">
            <a:avLst/>
          </a:prstGeom>
          <a:solidFill>
            <a:srgbClr val="00B4D8"/>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
          <p:cNvSpPr/>
          <p:nvPr/>
        </p:nvSpPr>
        <p:spPr>
          <a:xfrm>
            <a:off x="457200" y="4059936"/>
            <a:ext cx="502800" cy="219600"/>
          </a:xfrm>
          <a:prstGeom prst="roundRect">
            <a:avLst>
              <a:gd fmla="val 16667" name="adj"/>
            </a:avLst>
          </a:prstGeom>
          <a:solidFill>
            <a:srgbClr val="00B4D8">
              <a:alpha val="21960"/>
            </a:srgbClr>
          </a:solidFill>
          <a:ln cap="flat" cmpd="sng" w="15225">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
          <p:cNvSpPr/>
          <p:nvPr/>
        </p:nvSpPr>
        <p:spPr>
          <a:xfrm>
            <a:off x="457200" y="4059936"/>
            <a:ext cx="5028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B4D8"/>
              </a:buClr>
              <a:buSzPts val="900"/>
              <a:buFont typeface="Calibri"/>
              <a:buNone/>
            </a:pPr>
            <a:r>
              <a:rPr b="1" i="0" lang="en-US" sz="900" u="none" cap="none" strike="noStrike">
                <a:solidFill>
                  <a:srgbClr val="00B4D8"/>
                </a:solidFill>
                <a:latin typeface="Calibri"/>
                <a:ea typeface="Calibri"/>
                <a:cs typeface="Calibri"/>
                <a:sym typeface="Calibri"/>
              </a:rPr>
              <a:t>S5</a:t>
            </a:r>
            <a:endParaRPr b="0" i="0" sz="900" u="none" cap="none" strike="noStrike">
              <a:solidFill>
                <a:schemeClr val="dk1"/>
              </a:solidFill>
              <a:latin typeface="Calibri"/>
              <a:ea typeface="Calibri"/>
              <a:cs typeface="Calibri"/>
              <a:sym typeface="Calibri"/>
            </a:endParaRPr>
          </a:p>
        </p:txBody>
      </p:sp>
      <p:sp>
        <p:nvSpPr>
          <p:cNvPr id="189" name="Google Shape;189;p5"/>
          <p:cNvSpPr/>
          <p:nvPr/>
        </p:nvSpPr>
        <p:spPr>
          <a:xfrm>
            <a:off x="1051560" y="4078224"/>
            <a:ext cx="28347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Adaptive Interface guides next step</a:t>
            </a:r>
            <a:endParaRPr b="0" i="0" sz="1250" u="none" cap="none" strike="noStrike">
              <a:solidFill>
                <a:schemeClr val="dk1"/>
              </a:solidFill>
              <a:latin typeface="Calibri"/>
              <a:ea typeface="Calibri"/>
              <a:cs typeface="Calibri"/>
              <a:sym typeface="Calibri"/>
            </a:endParaRPr>
          </a:p>
        </p:txBody>
      </p:sp>
      <p:sp>
        <p:nvSpPr>
          <p:cNvPr id="190" name="Google Shape;190;p5"/>
          <p:cNvSpPr/>
          <p:nvPr/>
        </p:nvSpPr>
        <p:spPr>
          <a:xfrm>
            <a:off x="3977640" y="4114800"/>
            <a:ext cx="27300" cy="475500"/>
          </a:xfrm>
          <a:prstGeom prst="rect">
            <a:avLst/>
          </a:prstGeom>
          <a:solidFill>
            <a:srgbClr val="00B4D8">
              <a:alpha val="40000"/>
            </a:srgbClr>
          </a:solidFill>
          <a:ln cap="flat" cmpd="sng" w="12700">
            <a:solidFill>
              <a:srgbClr val="00B4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4114800" y="4078224"/>
            <a:ext cx="45720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C8DC"/>
              </a:buClr>
              <a:buSzPts val="1150"/>
              <a:buFont typeface="Calibri"/>
              <a:buNone/>
            </a:pPr>
            <a:r>
              <a:rPr lang="en-US" sz="1150">
                <a:solidFill>
                  <a:srgbClr val="C0C8DC"/>
                </a:solidFill>
                <a:latin typeface="Calibri"/>
                <a:ea typeface="Calibri"/>
                <a:cs typeface="Calibri"/>
                <a:sym typeface="Calibri"/>
              </a:rPr>
              <a:t>Focuses display on key gauge • Dims irrelevant panels • Prompts: “Verify this first”</a:t>
            </a:r>
            <a:endParaRPr b="0" i="0" sz="1150" u="none" cap="none" strike="noStrike">
              <a:solidFill>
                <a:schemeClr val="dk1"/>
              </a:solidFill>
              <a:latin typeface="Calibri"/>
              <a:ea typeface="Calibri"/>
              <a:cs typeface="Calibri"/>
              <a:sym typeface="Calibri"/>
            </a:endParaRPr>
          </a:p>
        </p:txBody>
      </p:sp>
      <p:sp>
        <p:nvSpPr>
          <p:cNvPr id="192" name="Google Shape;192;p5"/>
          <p:cNvSpPr/>
          <p:nvPr/>
        </p:nvSpPr>
        <p:spPr>
          <a:xfrm>
            <a:off x="0" y="4988052"/>
            <a:ext cx="9144000" cy="155400"/>
          </a:xfrm>
          <a:prstGeom prst="rect">
            <a:avLst/>
          </a:prstGeom>
          <a:solidFill>
            <a:srgbClr val="0F1628"/>
          </a:solidFill>
          <a:ln cap="flat" cmpd="sng" w="12700">
            <a:solidFill>
              <a:srgbClr val="1A22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
          <p:cNvSpPr/>
          <p:nvPr/>
        </p:nvSpPr>
        <p:spPr>
          <a:xfrm>
            <a:off x="274320" y="4988052"/>
            <a:ext cx="4572000" cy="155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5470"/>
              </a:buClr>
              <a:buSzPts val="850"/>
              <a:buFont typeface="Calibri"/>
              <a:buNone/>
            </a:pPr>
            <a:r>
              <a:rPr b="0" i="0" lang="en-US" sz="850" u="none" cap="none" strike="noStrike">
                <a:solidFill>
                  <a:srgbClr val="4A5470"/>
                </a:solidFill>
                <a:latin typeface="Calibri"/>
                <a:ea typeface="Calibri"/>
                <a:cs typeface="Calibri"/>
                <a:sym typeface="Calibri"/>
              </a:rPr>
              <a:t>Human-Aware AI Safety Gate</a:t>
            </a:r>
            <a:endParaRPr b="0" i="0" sz="850" u="none" cap="none" strike="noStrike">
              <a:solidFill>
                <a:schemeClr val="dk1"/>
              </a:solidFill>
              <a:latin typeface="Calibri"/>
              <a:ea typeface="Calibri"/>
              <a:cs typeface="Calibri"/>
              <a:sym typeface="Calibri"/>
            </a:endParaRPr>
          </a:p>
        </p:txBody>
      </p:sp>
      <p:sp>
        <p:nvSpPr>
          <p:cNvPr id="194" name="Google Shape;194;p5"/>
          <p:cNvSpPr/>
          <p:nvPr/>
        </p:nvSpPr>
        <p:spPr>
          <a:xfrm>
            <a:off x="8138160" y="4988052"/>
            <a:ext cx="731400" cy="155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470"/>
              </a:buClr>
              <a:buSzPts val="850"/>
              <a:buFont typeface="Calibri"/>
              <a:buNone/>
            </a:pPr>
            <a:r>
              <a:rPr b="0" i="0" lang="en-US" sz="850" u="none" cap="none" strike="noStrike">
                <a:solidFill>
                  <a:srgbClr val="4A5470"/>
                </a:solidFill>
                <a:latin typeface="Calibri"/>
                <a:ea typeface="Calibri"/>
                <a:cs typeface="Calibri"/>
                <a:sym typeface="Calibri"/>
              </a:rPr>
              <a:t>5 / 7</a:t>
            </a:r>
            <a:endParaRPr b="0" i="0" sz="850" u="none" cap="none" strike="noStrike">
              <a:solidFill>
                <a:schemeClr val="dk1"/>
              </a:solidFill>
              <a:latin typeface="Calibri"/>
              <a:ea typeface="Calibri"/>
              <a:cs typeface="Calibri"/>
              <a:sym typeface="Calibri"/>
            </a:endParaRPr>
          </a:p>
        </p:txBody>
      </p:sp>
      <p:pic>
        <p:nvPicPr>
          <p:cNvPr id="195" name="Google Shape;195;p5"/>
          <p:cNvPicPr preferRelativeResize="0"/>
          <p:nvPr/>
        </p:nvPicPr>
        <p:blipFill>
          <a:blip r:embed="rId3">
            <a:alphaModFix/>
          </a:blip>
          <a:stretch>
            <a:fillRect/>
          </a:stretch>
        </p:blipFill>
        <p:spPr>
          <a:xfrm>
            <a:off x="0" y="7343"/>
            <a:ext cx="9144000" cy="512881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C18"/>
        </a:solidFill>
      </p:bgPr>
    </p:bg>
    <p:spTree>
      <p:nvGrpSpPr>
        <p:cNvPr id="200" name="Shape 200"/>
        <p:cNvGrpSpPr/>
        <p:nvPr/>
      </p:nvGrpSpPr>
      <p:grpSpPr>
        <a:xfrm>
          <a:off x="0" y="0"/>
          <a:ext cx="0" cy="0"/>
          <a:chOff x="0" y="0"/>
          <a:chExt cx="0" cy="0"/>
        </a:xfrm>
      </p:grpSpPr>
      <p:sp>
        <p:nvSpPr>
          <p:cNvPr id="201" name="Google Shape;201;p6"/>
          <p:cNvSpPr/>
          <p:nvPr/>
        </p:nvSpPr>
        <p:spPr>
          <a:xfrm>
            <a:off x="521400" y="2029075"/>
            <a:ext cx="8101200" cy="2119800"/>
          </a:xfrm>
          <a:prstGeom prst="rect">
            <a:avLst/>
          </a:prstGeom>
          <a:solidFill>
            <a:srgbClr val="0F1628"/>
          </a:solidFill>
          <a:ln cap="flat" cmpd="sng" w="12700">
            <a:solidFill>
              <a:schemeClr val="accent6"/>
            </a:solidFill>
            <a:prstDash val="solid"/>
            <a:round/>
            <a:headEnd len="sm" w="sm" type="none"/>
            <a:tailEnd len="sm" w="sm" type="none"/>
          </a:ln>
          <a:effectLst>
            <a:outerShdw blurRad="127000" rotWithShape="0" algn="bl" dir="8100000" dist="38100">
              <a:srgbClr val="000000">
                <a:alpha val="301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US"/>
              <a:t>juuh</a:t>
            </a:r>
            <a:endParaRPr/>
          </a:p>
        </p:txBody>
      </p:sp>
      <p:sp>
        <p:nvSpPr>
          <p:cNvPr id="202" name="Google Shape;202;p6"/>
          <p:cNvSpPr/>
          <p:nvPr/>
        </p:nvSpPr>
        <p:spPr>
          <a:xfrm>
            <a:off x="365760" y="109728"/>
            <a:ext cx="1920240" cy="219456"/>
          </a:xfrm>
          <a:prstGeom prst="roundRect">
            <a:avLst>
              <a:gd fmla="val 16667" name="adj"/>
            </a:avLst>
          </a:prstGeom>
          <a:solidFill>
            <a:srgbClr val="00E5A0">
              <a:alpha val="18039"/>
            </a:srgbClr>
          </a:solidFill>
          <a:ln cap="flat" cmpd="sng" w="15225">
            <a:solidFill>
              <a:srgbClr val="00E5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6"/>
          <p:cNvSpPr/>
          <p:nvPr/>
        </p:nvSpPr>
        <p:spPr>
          <a:xfrm>
            <a:off x="365760" y="109728"/>
            <a:ext cx="192024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E5A0"/>
              </a:buClr>
              <a:buSzPts val="850"/>
              <a:buFont typeface="Calibri"/>
              <a:buNone/>
            </a:pPr>
            <a:r>
              <a:rPr b="1" i="0" lang="en-US" sz="850" u="none" cap="none" strike="noStrike">
                <a:solidFill>
                  <a:srgbClr val="00E5A0"/>
                </a:solidFill>
                <a:latin typeface="Calibri"/>
                <a:ea typeface="Calibri"/>
                <a:cs typeface="Calibri"/>
                <a:sym typeface="Calibri"/>
              </a:rPr>
              <a:t>RESULTS &amp; ANALYSIS</a:t>
            </a:r>
            <a:endParaRPr b="0" i="0" sz="850" u="none" cap="none" strike="noStrike">
              <a:solidFill>
                <a:schemeClr val="dk1"/>
              </a:solidFill>
              <a:latin typeface="Calibri"/>
              <a:ea typeface="Calibri"/>
              <a:cs typeface="Calibri"/>
              <a:sym typeface="Calibri"/>
            </a:endParaRPr>
          </a:p>
        </p:txBody>
      </p:sp>
      <p:sp>
        <p:nvSpPr>
          <p:cNvPr id="204" name="Google Shape;204;p6"/>
          <p:cNvSpPr/>
          <p:nvPr/>
        </p:nvSpPr>
        <p:spPr>
          <a:xfrm>
            <a:off x="1377675" y="712051"/>
            <a:ext cx="6220800" cy="937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000"/>
              <a:buFont typeface="Calibri"/>
              <a:buNone/>
            </a:pPr>
            <a:r>
              <a:rPr b="1" lang="en-US" sz="5000">
                <a:solidFill>
                  <a:srgbClr val="FFFFFF"/>
                </a:solidFill>
                <a:latin typeface="Calibri"/>
                <a:ea typeface="Calibri"/>
                <a:cs typeface="Calibri"/>
                <a:sym typeface="Calibri"/>
              </a:rPr>
              <a:t>Results &amp; Analysis</a:t>
            </a:r>
            <a:endParaRPr b="0" i="0" sz="5000" u="none" cap="none" strike="noStrike">
              <a:solidFill>
                <a:schemeClr val="dk1"/>
              </a:solidFill>
              <a:latin typeface="Calibri"/>
              <a:ea typeface="Calibri"/>
              <a:cs typeface="Calibri"/>
              <a:sym typeface="Calibri"/>
            </a:endParaRPr>
          </a:p>
        </p:txBody>
      </p:sp>
      <p:sp>
        <p:nvSpPr>
          <p:cNvPr id="205" name="Google Shape;205;p6"/>
          <p:cNvSpPr/>
          <p:nvPr/>
        </p:nvSpPr>
        <p:spPr>
          <a:xfrm>
            <a:off x="6126480" y="4489704"/>
            <a:ext cx="2514600" cy="29260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0C8DC"/>
              </a:buClr>
              <a:buSzPts val="1050"/>
              <a:buFont typeface="Calibri"/>
              <a:buNone/>
            </a:pPr>
            <a:r>
              <a:t/>
            </a:r>
            <a:endParaRPr b="0" i="0" sz="1050" u="none" cap="none" strike="noStrike">
              <a:solidFill>
                <a:schemeClr val="dk1"/>
              </a:solidFill>
              <a:latin typeface="Calibri"/>
              <a:ea typeface="Calibri"/>
              <a:cs typeface="Calibri"/>
              <a:sym typeface="Calibri"/>
            </a:endParaRPr>
          </a:p>
        </p:txBody>
      </p:sp>
      <p:sp>
        <p:nvSpPr>
          <p:cNvPr id="206" name="Google Shape;206;p6"/>
          <p:cNvSpPr/>
          <p:nvPr/>
        </p:nvSpPr>
        <p:spPr>
          <a:xfrm>
            <a:off x="8138160" y="4988052"/>
            <a:ext cx="731520" cy="15544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A5470"/>
              </a:buClr>
              <a:buSzPts val="850"/>
              <a:buFont typeface="Calibri"/>
              <a:buNone/>
            </a:pPr>
            <a:r>
              <a:rPr b="0" i="0" lang="en-US" sz="850" u="none" cap="none" strike="noStrike">
                <a:solidFill>
                  <a:srgbClr val="4A5470"/>
                </a:solidFill>
                <a:latin typeface="Calibri"/>
                <a:ea typeface="Calibri"/>
                <a:cs typeface="Calibri"/>
                <a:sym typeface="Calibri"/>
              </a:rPr>
              <a:t>6 / 7</a:t>
            </a:r>
            <a:endParaRPr b="0" i="0" sz="850" u="none" cap="none" strike="noStrike">
              <a:solidFill>
                <a:schemeClr val="dk1"/>
              </a:solidFill>
              <a:latin typeface="Calibri"/>
              <a:ea typeface="Calibri"/>
              <a:cs typeface="Calibri"/>
              <a:sym typeface="Calibri"/>
            </a:endParaRPr>
          </a:p>
        </p:txBody>
      </p:sp>
      <p:sp>
        <p:nvSpPr>
          <p:cNvPr id="207" name="Google Shape;207;p6"/>
          <p:cNvSpPr txBox="1"/>
          <p:nvPr/>
        </p:nvSpPr>
        <p:spPr>
          <a:xfrm>
            <a:off x="589450" y="2164150"/>
            <a:ext cx="8101200" cy="21198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lt1"/>
              </a:buClr>
              <a:buSzPts val="1700"/>
              <a:buChar char="●"/>
            </a:pPr>
            <a:r>
              <a:rPr b="1" lang="en-US">
                <a:solidFill>
                  <a:schemeClr val="lt1"/>
                </a:solidFill>
              </a:rPr>
              <a:t>Safety Gate Advantage</a:t>
            </a:r>
            <a:br>
              <a:rPr b="1" lang="en-US">
                <a:solidFill>
                  <a:schemeClr val="lt1"/>
                </a:solidFill>
              </a:rPr>
            </a:br>
            <a:r>
              <a:rPr lang="en-US">
                <a:solidFill>
                  <a:schemeClr val="lt1"/>
                </a:solidFill>
              </a:rPr>
              <a:t> Dual-agent system ensures actions only happen when operator + system are aligned</a:t>
            </a:r>
            <a:endParaRPr>
              <a:solidFill>
                <a:schemeClr val="lt1"/>
              </a:solidFill>
            </a:endParaRPr>
          </a:p>
          <a:p>
            <a:pPr indent="-336550" lvl="0" marL="457200" rtl="0" algn="l">
              <a:spcBef>
                <a:spcPts val="0"/>
              </a:spcBef>
              <a:spcAft>
                <a:spcPts val="0"/>
              </a:spcAft>
              <a:buClr>
                <a:schemeClr val="lt1"/>
              </a:buClr>
              <a:buSzPts val="1700"/>
              <a:buChar char="●"/>
            </a:pPr>
            <a:r>
              <a:rPr b="1" lang="en-US">
                <a:solidFill>
                  <a:schemeClr val="lt1"/>
                </a:solidFill>
              </a:rPr>
              <a:t>Automation Bias Prevention</a:t>
            </a:r>
            <a:br>
              <a:rPr b="1" lang="en-US">
                <a:solidFill>
                  <a:schemeClr val="lt1"/>
                </a:solidFill>
              </a:rPr>
            </a:br>
            <a:r>
              <a:rPr lang="en-US">
                <a:solidFill>
                  <a:schemeClr val="lt1"/>
                </a:solidFill>
              </a:rPr>
              <a:t> 100% gating when operator overloaded, forces verification before action</a:t>
            </a:r>
            <a:endParaRPr>
              <a:solidFill>
                <a:schemeClr val="lt1"/>
              </a:solidFill>
            </a:endParaRPr>
          </a:p>
          <a:p>
            <a:pPr indent="-336550" lvl="0" marL="457200" rtl="0" algn="l">
              <a:spcBef>
                <a:spcPts val="0"/>
              </a:spcBef>
              <a:spcAft>
                <a:spcPts val="0"/>
              </a:spcAft>
              <a:buClr>
                <a:schemeClr val="lt1"/>
              </a:buClr>
              <a:buSzPts val="1700"/>
              <a:buChar char="●"/>
            </a:pPr>
            <a:r>
              <a:rPr b="1" lang="en-US">
                <a:solidFill>
                  <a:schemeClr val="lt1"/>
                </a:solidFill>
              </a:rPr>
              <a:t>Cognitive Resiliency</a:t>
            </a:r>
            <a:br>
              <a:rPr b="1" lang="en-US">
                <a:solidFill>
                  <a:schemeClr val="lt1"/>
                </a:solidFill>
              </a:rPr>
            </a:br>
            <a:r>
              <a:rPr lang="en-US">
                <a:solidFill>
                  <a:schemeClr val="lt1"/>
                </a:solidFill>
              </a:rPr>
              <a:t> Shifts operator from symptom-fixation, root-cause decision making</a:t>
            </a:r>
            <a:endParaRPr>
              <a:solidFill>
                <a:schemeClr val="lt1"/>
              </a:solidFill>
            </a:endParaRPr>
          </a:p>
          <a:p>
            <a:pPr indent="0" lvl="0" marL="457200" rtl="0" algn="l">
              <a:spcBef>
                <a:spcPts val="0"/>
              </a:spcBef>
              <a:spcAft>
                <a:spcPts val="0"/>
              </a:spcAft>
              <a:buNone/>
            </a:pPr>
            <a:r>
              <a:t/>
            </a:r>
            <a:endParaRPr>
              <a:solidFill>
                <a:schemeClr val="lt2"/>
              </a:solidFill>
            </a:endParaRPr>
          </a:p>
        </p:txBody>
      </p:sp>
      <p:pic>
        <p:nvPicPr>
          <p:cNvPr id="208" name="Google Shape;208;p6"/>
          <p:cNvPicPr preferRelativeResize="0"/>
          <p:nvPr/>
        </p:nvPicPr>
        <p:blipFill>
          <a:blip r:embed="rId3">
            <a:alphaModFix/>
          </a:blip>
          <a:stretch>
            <a:fillRect/>
          </a:stretch>
        </p:blipFill>
        <p:spPr>
          <a:xfrm>
            <a:off x="0" y="2867"/>
            <a:ext cx="9144000" cy="513776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2026-04-08T22:28:54Z</dcterms:created>
  <dc:creator>PptxGenJS</dc:creator>
</cp:coreProperties>
</file>